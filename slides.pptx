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9483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CFE8EF"/>
                </a:solidFill>
                <a:latin typeface="Calibri" pitchFamily="34" charset="0"/>
                <a:ea typeface="Calibri" pitchFamily="34" charset="-122"/>
                <a:cs typeface="Calibri" pitchFamily="34" charset="-120"/>
              </a:rPr>
              <a:t>01 · NGƯỜI DÙNG &amp; BÀI TOÁN</a:t>
            </a:r>
            <a:endParaRPr lang="en-US" sz="1300" dirty="0"/>
          </a:p>
        </p:txBody>
      </p:sp>
      <p:sp>
        <p:nvSpPr>
          <p:cNvPr id="3" name="Text 1"/>
          <p:cNvSpPr/>
          <p:nvPr/>
        </p:nvSpPr>
        <p:spPr>
          <a:xfrm>
            <a:off x="548640" y="868680"/>
            <a:ext cx="786384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Học viên tra lại nội dung bài giảng</a:t>
            </a:r>
            <a:endParaRPr lang="en-US" sz="3000" dirty="0"/>
          </a:p>
        </p:txBody>
      </p:sp>
      <p:sp>
        <p:nvSpPr>
          <p:cNvPr id="4" name="Shape 2"/>
          <p:cNvSpPr/>
          <p:nvPr/>
        </p:nvSpPr>
        <p:spPr>
          <a:xfrm>
            <a:off x="548640" y="1874520"/>
            <a:ext cx="6492240" cy="1417320"/>
          </a:xfrm>
          <a:prstGeom prst="roundRect">
            <a:avLst>
              <a:gd name="adj" fmla="val 6452"/>
            </a:avLst>
          </a:prstGeom>
          <a:solidFill>
            <a:srgbClr val="2B3970"/>
          </a:solidFill>
          <a:ln/>
        </p:spPr>
        <p:txBody>
          <a:bodyPr/>
          <a:lstStyle/>
          <a:p>
            <a:endParaRPr lang="en-US"/>
          </a:p>
        </p:txBody>
      </p:sp>
      <p:sp>
        <p:nvSpPr>
          <p:cNvPr id="5" name="Text 3"/>
          <p:cNvSpPr/>
          <p:nvPr/>
        </p:nvSpPr>
        <p:spPr>
          <a:xfrm>
            <a:off x="822960" y="2057400"/>
            <a:ext cx="5943600" cy="1143000"/>
          </a:xfrm>
          <a:prstGeom prst="rect">
            <a:avLst/>
          </a:prstGeom>
          <a:noFill/>
          <a:ln/>
        </p:spPr>
        <p:txBody>
          <a:bodyPr wrap="square" rtlCol="0" anchor="t"/>
          <a:lstStyle/>
          <a:p>
            <a:pPr marL="0" indent="0">
              <a:buNone/>
            </a:pPr>
            <a:r>
              <a:rPr lang="en-US" sz="1200" b="1" dirty="0">
                <a:solidFill>
                  <a:srgbClr val="CFE8EF"/>
                </a:solidFill>
                <a:latin typeface="Calibri" pitchFamily="34" charset="0"/>
                <a:ea typeface="Calibri" pitchFamily="34" charset="-122"/>
                <a:cs typeface="Calibri" pitchFamily="34" charset="-120"/>
              </a:rPr>
              <a:t>Job Story
</a:t>
            </a:r>
            <a:endParaRPr lang="en-US" sz="1200" dirty="0"/>
          </a:p>
          <a:p>
            <a:pPr marL="0" indent="0">
              <a:buNone/>
            </a:pPr>
            <a:r>
              <a:rPr lang="en-US" sz="1450" dirty="0">
                <a:solidFill>
                  <a:srgbClr val="FFFFFF"/>
                </a:solidFill>
                <a:latin typeface="Calibri" pitchFamily="34" charset="0"/>
                <a:ea typeface="Calibri" pitchFamily="34" charset="-122"/>
                <a:cs typeface="Calibri" pitchFamily="34" charset="-120"/>
              </a:rPr>
              <a:t>Khi ôn tập hoặc lỡ một buổi học, học viên bôi đen đoạn slide/transcript hoặc nhập câu hỏi, muốn nhận câu trả lời ngắn gọn kèm trích dẫn tin được (trang slide hoặc đoạn transcript), để giảm thời gian tự kiểm chứng và không phải chờ tutor trả lời.</a:t>
            </a:r>
            <a:endParaRPr lang="en-US" sz="1200" dirty="0"/>
          </a:p>
        </p:txBody>
      </p:sp>
      <p:sp>
        <p:nvSpPr>
          <p:cNvPr id="6" name="Shape 4"/>
          <p:cNvSpPr/>
          <p:nvPr/>
        </p:nvSpPr>
        <p:spPr>
          <a:xfrm>
            <a:off x="548640" y="3520440"/>
            <a:ext cx="6492240" cy="1371600"/>
          </a:xfrm>
          <a:prstGeom prst="roundRect">
            <a:avLst>
              <a:gd name="adj" fmla="val 6667"/>
            </a:avLst>
          </a:prstGeom>
          <a:solidFill>
            <a:srgbClr val="2B3970"/>
          </a:solidFill>
          <a:ln/>
        </p:spPr>
        <p:txBody>
          <a:bodyPr/>
          <a:lstStyle/>
          <a:p>
            <a:endParaRPr lang="en-US"/>
          </a:p>
        </p:txBody>
      </p:sp>
      <p:sp>
        <p:nvSpPr>
          <p:cNvPr id="7" name="Text 5"/>
          <p:cNvSpPr/>
          <p:nvPr/>
        </p:nvSpPr>
        <p:spPr>
          <a:xfrm>
            <a:off x="822960" y="3657600"/>
            <a:ext cx="5943600" cy="320040"/>
          </a:xfrm>
          <a:prstGeom prst="rect">
            <a:avLst/>
          </a:prstGeom>
          <a:noFill/>
          <a:ln/>
        </p:spPr>
        <p:txBody>
          <a:bodyPr wrap="square" rtlCol="0" anchor="ctr"/>
          <a:lstStyle/>
          <a:p>
            <a:pPr marL="0" indent="0">
              <a:buNone/>
            </a:pPr>
            <a:r>
              <a:rPr lang="en-US" sz="1200" b="1" dirty="0">
                <a:solidFill>
                  <a:srgbClr val="CFE8EF"/>
                </a:solidFill>
                <a:latin typeface="Calibri" pitchFamily="34" charset="0"/>
                <a:ea typeface="Calibri" pitchFamily="34" charset="-122"/>
                <a:cs typeface="Calibri" pitchFamily="34" charset="-120"/>
              </a:rPr>
              <a:t>Đang giải quyết bằng gì hôm nay, và fail ở đâu?</a:t>
            </a:r>
            <a:endParaRPr lang="en-US" sz="1200" dirty="0"/>
          </a:p>
        </p:txBody>
      </p:sp>
      <p:sp>
        <p:nvSpPr>
          <p:cNvPr id="8" name="Text 6"/>
          <p:cNvSpPr/>
          <p:nvPr/>
        </p:nvSpPr>
        <p:spPr>
          <a:xfrm>
            <a:off x="822960" y="3977640"/>
            <a:ext cx="5943600" cy="86868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Hệ thống hiện chỉ trả lời dựa trên kiến thức nội bộ khi có, đôi khi thiếu provenance — 582/1.261 lượt trả lời (46,2%) không kèm trích dẫn. Học viên phải tự xác minh, giảm trust và tốn thời gian.</a:t>
            </a:r>
            <a:endParaRPr lang="en-US" sz="1350" dirty="0"/>
          </a:p>
        </p:txBody>
      </p:sp>
      <p:sp>
        <p:nvSpPr>
          <p:cNvPr id="9" name="Shape 7"/>
          <p:cNvSpPr/>
          <p:nvPr/>
        </p:nvSpPr>
        <p:spPr>
          <a:xfrm>
            <a:off x="7315200" y="1874520"/>
            <a:ext cx="4297680" cy="3017520"/>
          </a:xfrm>
          <a:prstGeom prst="roundRect">
            <a:avLst>
              <a:gd name="adj" fmla="val 3636"/>
            </a:avLst>
          </a:prstGeom>
          <a:solidFill>
            <a:srgbClr val="21295C"/>
          </a:solidFill>
          <a:ln w="19050">
            <a:solidFill>
              <a:srgbClr val="FFB703"/>
            </a:solidFill>
            <a:prstDash val="solid"/>
          </a:ln>
        </p:spPr>
        <p:txBody>
          <a:bodyPr/>
          <a:lstStyle/>
          <a:p>
            <a:endParaRPr lang="en-US"/>
          </a:p>
        </p:txBody>
      </p:sp>
      <p:sp>
        <p:nvSpPr>
          <p:cNvPr id="10" name="Text 8"/>
          <p:cNvSpPr/>
          <p:nvPr/>
        </p:nvSpPr>
        <p:spPr>
          <a:xfrm>
            <a:off x="7315200" y="2148840"/>
            <a:ext cx="4297680" cy="1188720"/>
          </a:xfrm>
          <a:prstGeom prst="rect">
            <a:avLst/>
          </a:prstGeom>
          <a:noFill/>
          <a:ln/>
        </p:spPr>
        <p:txBody>
          <a:bodyPr wrap="square" rtlCol="0" anchor="ctr"/>
          <a:lstStyle/>
          <a:p>
            <a:pPr marL="0" indent="0" algn="ctr">
              <a:buNone/>
            </a:pPr>
            <a:r>
              <a:rPr lang="en-US" sz="6000" b="1" dirty="0">
                <a:solidFill>
                  <a:srgbClr val="FFB703"/>
                </a:solidFill>
                <a:latin typeface="Cambria" pitchFamily="34" charset="0"/>
                <a:ea typeface="Cambria" pitchFamily="34" charset="-122"/>
                <a:cs typeface="Cambria" pitchFamily="34" charset="-120"/>
              </a:rPr>
              <a:t>46%</a:t>
            </a:r>
            <a:endParaRPr lang="en-US" sz="6000" dirty="0"/>
          </a:p>
        </p:txBody>
      </p:sp>
      <p:sp>
        <p:nvSpPr>
          <p:cNvPr id="11" name="Text 9"/>
          <p:cNvSpPr/>
          <p:nvPr/>
        </p:nvSpPr>
        <p:spPr>
          <a:xfrm>
            <a:off x="7589520" y="3246120"/>
            <a:ext cx="3749040" cy="1097280"/>
          </a:xfrm>
          <a:prstGeom prst="rect">
            <a:avLst/>
          </a:prstGeom>
          <a:noFill/>
          <a:ln/>
        </p:spPr>
        <p:txBody>
          <a:bodyPr wrap="square" rtlCol="0" anchor="t"/>
          <a:lstStyle/>
          <a:p>
            <a:pPr marL="0" indent="0" algn="ctr">
              <a:buNone/>
            </a:pPr>
            <a:r>
              <a:rPr lang="en-US" sz="1300" dirty="0">
                <a:solidFill>
                  <a:srgbClr val="CFE8EF"/>
                </a:solidFill>
                <a:latin typeface="Calibri" pitchFamily="34" charset="0"/>
                <a:ea typeface="Calibri" pitchFamily="34" charset="-122"/>
                <a:cs typeface="Calibri" pitchFamily="34" charset="-120"/>
              </a:rPr>
              <a:t>582/1.261 lượt trả lời tutor thiếu trích dẫn — mining từ chatlog thực tế (19 lượt than phiền liên quan citation)</a:t>
            </a:r>
            <a:endParaRPr lang="en-US" sz="1300" dirty="0"/>
          </a:p>
        </p:txBody>
      </p:sp>
      <p:sp>
        <p:nvSpPr>
          <p:cNvPr id="12" name="Text 10"/>
          <p:cNvSpPr/>
          <p:nvPr/>
        </p:nvSpPr>
        <p:spPr>
          <a:xfrm>
            <a:off x="7406640" y="4480560"/>
            <a:ext cx="4114800" cy="320040"/>
          </a:xfrm>
          <a:prstGeom prst="rect">
            <a:avLst/>
          </a:prstGeom>
          <a:noFill/>
          <a:ln/>
        </p:spPr>
        <p:txBody>
          <a:bodyPr wrap="square" rtlCol="0" anchor="ctr"/>
          <a:lstStyle/>
          <a:p>
            <a:pPr marL="0" indent="0" algn="l">
              <a:buNone/>
            </a:pPr>
            <a:r>
              <a:rPr lang="en-US" sz="1000" i="1" dirty="0">
                <a:solidFill>
                  <a:srgbClr val="FFB703"/>
                </a:solidFill>
                <a:latin typeface="Calibri" pitchFamily="34" charset="0"/>
                <a:ea typeface="Calibri" pitchFamily="34" charset="-122"/>
                <a:cs typeface="Calibri" pitchFamily="34" charset="-120"/>
              </a:rPr>
              <a:t>Nguồn: chat_metrics.json — data/vlearn-pack/chatlog (script phân tích CSV)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21295C"/>
                </a:solidFill>
                <a:latin typeface="Calibri" pitchFamily="34" charset="0"/>
                <a:ea typeface="Calibri" pitchFamily="34" charset="-122"/>
                <a:cs typeface="Calibri" pitchFamily="34" charset="-120"/>
              </a:rPr>
              <a:t>02 · VÌ SAO CHỌN TÍNH NĂNG NÀY</a:t>
            </a:r>
            <a:endParaRPr lang="en-US" sz="1200" dirty="0"/>
          </a:p>
        </p:txBody>
      </p:sp>
      <p:sp>
        <p:nvSpPr>
          <p:cNvPr id="3" name="Text 1"/>
          <p:cNvSpPr/>
          <p:nvPr/>
        </p:nvSpPr>
        <p:spPr>
          <a:xfrm>
            <a:off x="548640" y="731520"/>
            <a:ext cx="10058400" cy="548640"/>
          </a:xfrm>
          <a:prstGeom prst="rect">
            <a:avLst/>
          </a:prstGeom>
          <a:noFill/>
          <a:ln/>
        </p:spPr>
        <p:txBody>
          <a:bodyPr wrap="square" rtlCol="0" anchor="ctr"/>
          <a:lstStyle/>
          <a:p>
            <a:pPr marL="0" indent="0">
              <a:buNone/>
            </a:pPr>
            <a:r>
              <a:rPr lang="en-US" sz="2400" b="1" dirty="0">
                <a:solidFill>
                  <a:srgbClr val="1F2A33"/>
                </a:solidFill>
                <a:latin typeface="Cambria" pitchFamily="34" charset="0"/>
                <a:ea typeface="Cambria" pitchFamily="34" charset="-122"/>
                <a:cs typeface="Cambria" pitchFamily="34" charset="-120"/>
              </a:rPr>
              <a:t>Bảng impact — các hướng đã cân nhắc</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3467651465"/>
              </p:ext>
            </p:extLst>
          </p:nvPr>
        </p:nvGraphicFramePr>
        <p:xfrm>
          <a:off x="548640" y="1600200"/>
          <a:ext cx="11064240" cy="2377440"/>
        </p:xfrm>
        <a:graphic>
          <a:graphicData uri="http://schemas.openxmlformats.org/drawingml/2006/table">
            <a:tbl>
              <a:tblPr/>
              <a:tblGrid>
                <a:gridCol w="31089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594360">
                <a:tc>
                  <a:txBody>
                    <a:bodyPr/>
                    <a:lstStyle/>
                    <a:p>
                      <a:pPr marL="0" indent="0" algn="l">
                        <a:buNone/>
                      </a:pPr>
                      <a:r>
                        <a:rPr lang="en-US" sz="1150" b="1" dirty="0">
                          <a:solidFill>
                            <a:srgbClr val="FFFFFF"/>
                          </a:solidFill>
                        </a:rPr>
                        <a:t>Ứng viên</a:t>
                      </a:r>
                      <a:endParaRPr lang="en-US" sz="1150" dirty="0"/>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150" b="1" dirty="0">
                          <a:solidFill>
                            <a:srgbClr val="FFFFFF"/>
                          </a:solidFill>
                        </a:rPr>
                        <a:t>Bao nhiêu người gặp</a:t>
                      </a:r>
                      <a:endParaRPr lang="en-US" sz="1150" dirty="0"/>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150" b="1" dirty="0">
                          <a:solidFill>
                            <a:srgbClr val="FFFFFF"/>
                          </a:solidFill>
                        </a:rPr>
                        <a:t>Tần suất</a:t>
                      </a:r>
                      <a:endParaRPr lang="en-US" sz="1150" dirty="0"/>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150" b="1" dirty="0">
                          <a:solidFill>
                            <a:srgbClr val="FFFFFF"/>
                          </a:solidFill>
                        </a:rPr>
                        <a:t>Mỗi lần tốn gì</a:t>
                      </a:r>
                      <a:endParaRPr lang="en-US" sz="1150" dirty="0"/>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150" b="1" dirty="0">
                          <a:solidFill>
                            <a:srgbClr val="FFFFFF"/>
                          </a:solidFill>
                        </a:rPr>
                        <a:t>Build nổi?</a:t>
                      </a:r>
                      <a:endParaRPr lang="en-US" sz="1150" dirty="0"/>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150" b="1" dirty="0">
                          <a:solidFill>
                            <a:srgbClr val="FFFFFF"/>
                          </a:solidFill>
                        </a:rPr>
                        <a:t>Chọn?</a:t>
                      </a:r>
                      <a:endParaRPr lang="en-US" sz="1150" dirty="0"/>
                    </a:p>
                  </a:txBody>
                  <a:tcPr anchor="ctr">
                    <a:lnL w="0" cap="flat" cmpd="sng" algn="ctr">
                      <a:noFill/>
                    </a:lnL>
                    <a:lnR w="0" cap="flat" cmpd="sng" algn="ctr">
                      <a:noFill/>
                    </a:lnR>
                    <a:lnT w="0" cap="flat" cmpd="sng" algn="ctr">
                      <a:noFill/>
                    </a:lnT>
                    <a:lnB w="0" cap="flat" cmpd="sng" algn="ctr">
                      <a:noFill/>
                    </a:lnB>
                    <a:solidFill>
                      <a:srgbClr val="21295C"/>
                    </a:solidFill>
                  </a:tcPr>
                </a:tc>
                <a:extLst>
                  <a:ext uri="{0D108BD9-81ED-4DB2-BD59-A6C34878D82A}">
                    <a16:rowId xmlns:a16="http://schemas.microsoft.com/office/drawing/2014/main" val="10000"/>
                  </a:ext>
                </a:extLst>
              </a:tr>
              <a:tr h="594360">
                <a:tc>
                  <a:txBody>
                    <a:bodyPr/>
                    <a:lstStyle/>
                    <a:p>
                      <a:pPr marL="0" indent="0" algn="l">
                        <a:buNone/>
                      </a:pPr>
                      <a:r>
                        <a:rPr lang="en-US" sz="1150" dirty="0">
                          <a:solidFill>
                            <a:srgbClr val="1F2A33"/>
                          </a:solidFill>
                        </a:rPr>
                        <a:t>A · Tăng độ phủ &amp; chính xác trích dẫn (RAG citation)</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l">
                        <a:buNone/>
                      </a:pPr>
                      <a:r>
                        <a:rPr lang="en-US" sz="1150" i="1" dirty="0">
                          <a:solidFill>
                            <a:srgbClr val="667380"/>
                          </a:solidFill>
                        </a:rPr>
                        <a:t>≈1.261 lượt tương tác tutor</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l">
                        <a:buNone/>
                      </a:pPr>
                      <a:r>
                        <a:rPr lang="en-US" sz="1150" dirty="0">
                          <a:solidFill>
                            <a:srgbClr val="1F2A33"/>
                          </a:solidFill>
                        </a:rPr>
                        <a:t>~0,6 lần/session (khi hỏi khái niệm)</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l">
                        <a:buNone/>
                      </a:pPr>
                      <a:r>
                        <a:rPr lang="en-US" sz="1150" i="1" dirty="0">
                          <a:solidFill>
                            <a:srgbClr val="667380"/>
                          </a:solidFill>
                        </a:rPr>
                        <a:t>1–3 phút xác minh mỗi lần</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ctr">
                        <a:buNone/>
                      </a:pPr>
                      <a:r>
                        <a:rPr lang="en-US" sz="1150" dirty="0">
                          <a:solidFill>
                            <a:srgbClr val="1F2A33"/>
                          </a:solidFill>
                        </a:rPr>
                        <a:t>Có (0,8)</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ctr">
                        <a:buNone/>
                      </a:pPr>
                      <a:r>
                        <a:rPr lang="en-US" sz="1150" b="1" dirty="0">
                          <a:solidFill>
                            <a:srgbClr val="1F2A33"/>
                          </a:solidFill>
                        </a:rPr>
                        <a:t>✔</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extLst>
                  <a:ext uri="{0D108BD9-81ED-4DB2-BD59-A6C34878D82A}">
                    <a16:rowId xmlns:a16="http://schemas.microsoft.com/office/drawing/2014/main" val="10001"/>
                  </a:ext>
                </a:extLst>
              </a:tr>
              <a:tr h="594360">
                <a:tc>
                  <a:txBody>
                    <a:bodyPr/>
                    <a:lstStyle/>
                    <a:p>
                      <a:pPr marL="0" indent="0" algn="l">
                        <a:buNone/>
                      </a:pPr>
                      <a:r>
                        <a:rPr lang="en-US" sz="1150" dirty="0">
                          <a:solidFill>
                            <a:srgbClr val="1F2A33"/>
                          </a:solidFill>
                        </a:rPr>
                        <a:t>B · Giảm hallucination / sai lệch nội dung</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i="1" dirty="0">
                          <a:solidFill>
                            <a:srgbClr val="667380"/>
                          </a:solidFill>
                        </a:rPr>
                        <a:t>~30–50% subset tương tác</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i="1" dirty="0">
                          <a:solidFill>
                            <a:srgbClr val="667380"/>
                          </a:solidFill>
                        </a:rPr>
                        <a:t>~0,3 lần/session</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i="1" dirty="0">
                          <a:solidFill>
                            <a:srgbClr val="667380"/>
                          </a:solidFill>
                        </a:rPr>
                        <a:t>5–10 phút xác minh</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i="1" dirty="0">
                          <a:solidFill>
                            <a:srgbClr val="667380"/>
                          </a:solidFill>
                        </a:rPr>
                        <a:t>Khó — overhaul model+prompt (0,7)</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b="1" i="1" dirty="0">
                          <a:solidFill>
                            <a:srgbClr val="667380"/>
                          </a:solidFill>
                        </a:rPr>
                        <a:t>✘ Loại</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594360">
                <a:tc>
                  <a:txBody>
                    <a:bodyPr/>
                    <a:lstStyle/>
                    <a:p>
                      <a:pPr marL="0" indent="0" algn="l">
                        <a:buNone/>
                      </a:pPr>
                      <a:r>
                        <a:rPr lang="en-US" sz="1150" i="0">
                          <a:solidFill>
                            <a:srgbClr val="667380"/>
                          </a:solidFill>
                        </a:rPr>
                        <a:t>C · </a:t>
                      </a:r>
                      <a:r>
                        <a:rPr lang="en-US" sz="1150" i="0">
                          <a:solidFill>
                            <a:srgbClr val="1F2A33"/>
                          </a:solidFill>
                        </a:rPr>
                        <a:t>Faster answer latency</a:t>
                      </a:r>
                      <a:endParaRPr lang="en-US" sz="1150" i="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l">
                        <a:buNone/>
                      </a:pPr>
                      <a:r>
                        <a:rPr lang="en-US" sz="1150" i="1" dirty="0">
                          <a:solidFill>
                            <a:srgbClr val="667380"/>
                          </a:solidFill>
                        </a:rPr>
                        <a:t>Toàn hệ thống (tất cả user)</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l">
                        <a:buNone/>
                      </a:pPr>
                      <a:r>
                        <a:rPr lang="en-US" sz="1150" i="1" dirty="0">
                          <a:solidFill>
                            <a:srgbClr val="667380"/>
                          </a:solidFill>
                        </a:rPr>
                        <a:t>Mỗi query</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l">
                        <a:buNone/>
                      </a:pPr>
                      <a:r>
                        <a:rPr lang="en-US" sz="1150" i="1" dirty="0">
                          <a:solidFill>
                            <a:srgbClr val="667380"/>
                          </a:solidFill>
                        </a:rPr>
                        <a:t>0,5–1 phút</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ctr">
                        <a:buNone/>
                      </a:pPr>
                      <a:r>
                        <a:rPr lang="en-US" sz="1150" i="1" dirty="0">
                          <a:solidFill>
                            <a:srgbClr val="667380"/>
                          </a:solidFill>
                        </a:rPr>
                        <a:t>Có (0,9) — nhưng không giải quyết trust</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tc>
                  <a:txBody>
                    <a:bodyPr/>
                    <a:lstStyle/>
                    <a:p>
                      <a:pPr marL="0" indent="0" algn="ctr">
                        <a:buNone/>
                      </a:pPr>
                      <a:r>
                        <a:rPr lang="en-US" sz="1150" b="1" i="1" dirty="0">
                          <a:solidFill>
                            <a:srgbClr val="667380"/>
                          </a:solidFill>
                        </a:rPr>
                        <a:t>✘ Loại</a:t>
                      </a:r>
                      <a:endParaRPr lang="en-US" sz="1150" dirty="0"/>
                    </a:p>
                  </a:txBody>
                  <a:tcPr anchor="ctr">
                    <a:lnL w="0" cap="flat" cmpd="sng" algn="ctr">
                      <a:noFill/>
                    </a:lnL>
                    <a:lnR w="0" cap="flat" cmpd="sng" algn="ctr">
                      <a:noFill/>
                    </a:lnR>
                    <a:lnT w="0" cap="flat" cmpd="sng" algn="ctr">
                      <a:noFill/>
                    </a:lnT>
                    <a:lnB w="0" cap="flat" cmpd="sng" algn="ctr">
                      <a:noFill/>
                    </a:lnB>
                    <a:solidFill>
                      <a:srgbClr val="F2F7F9"/>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709160"/>
            <a:ext cx="11064240" cy="1051560"/>
          </a:xfrm>
          <a:prstGeom prst="roundRect">
            <a:avLst>
              <a:gd name="adj" fmla="val 6957"/>
            </a:avLst>
          </a:prstGeom>
          <a:solidFill>
            <a:srgbClr val="F2F7F9"/>
          </a:solidFill>
          <a:ln w="12700">
            <a:solidFill>
              <a:srgbClr val="CFE8EF"/>
            </a:solidFill>
            <a:prstDash val="solid"/>
          </a:ln>
        </p:spPr>
        <p:txBody>
          <a:bodyPr/>
          <a:lstStyle/>
          <a:p>
            <a:endParaRPr lang="en-US"/>
          </a:p>
        </p:txBody>
      </p:sp>
      <p:sp>
        <p:nvSpPr>
          <p:cNvPr id="6" name="Text 3"/>
          <p:cNvSpPr/>
          <p:nvPr/>
        </p:nvSpPr>
        <p:spPr>
          <a:xfrm>
            <a:off x="822960" y="4892040"/>
            <a:ext cx="10515600" cy="731520"/>
          </a:xfrm>
          <a:prstGeom prst="rect">
            <a:avLst/>
          </a:prstGeom>
          <a:noFill/>
          <a:ln/>
        </p:spPr>
        <p:txBody>
          <a:bodyPr wrap="square" rtlCol="0" anchor="t"/>
          <a:lstStyle/>
          <a:p>
            <a:pPr marL="0" indent="0">
              <a:buNone/>
            </a:pPr>
            <a:r>
              <a:rPr lang="en-US" sz="1300" b="1" dirty="0">
                <a:solidFill>
                  <a:srgbClr val="21295C"/>
                </a:solidFill>
                <a:latin typeface="Calibri" pitchFamily="34" charset="0"/>
                <a:ea typeface="Calibri" pitchFamily="34" charset="-122"/>
                <a:cs typeface="Calibri" pitchFamily="34" charset="-120"/>
              </a:rPr>
              <a:t>Chọn A: </a:t>
            </a:r>
            <a:r>
              <a:rPr lang="en-US" sz="1300" i="1" dirty="0">
                <a:solidFill>
                  <a:srgbClr val="667380"/>
                </a:solidFill>
                <a:latin typeface="Calibri" pitchFamily="34" charset="0"/>
                <a:ea typeface="Calibri" pitchFamily="34" charset="-122"/>
                <a:cs typeface="Calibri" pitchFamily="34" charset="-120"/>
              </a:rPr>
              <a:t>Tăng trực tiếp trust và giảm time-to-verify (dự kiến 5 phút → 1,5 phút, ≈70% thời gian tiết kiệm), ảnh hưởng ~70% học viên đang hoạt động. Target: +30pp citation coverage (53,8% → ~83,8%) hoặc golden-set pass rate ≥80% trong 1 sprint. B bị hoãn vì scope lớn; C bị loại vì không giải quyết trust.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21295C"/>
                </a:solidFill>
                <a:latin typeface="Calibri" pitchFamily="34" charset="0"/>
                <a:ea typeface="Calibri" pitchFamily="34" charset="-122"/>
                <a:cs typeface="Calibri" pitchFamily="34" charset="-120"/>
              </a:rPr>
              <a:t>03 · GIẢI PHÁP &amp; DEMO LIVE</a:t>
            </a:r>
            <a:endParaRPr lang="en-US" sz="1200" dirty="0"/>
          </a:p>
        </p:txBody>
      </p:sp>
      <p:sp>
        <p:nvSpPr>
          <p:cNvPr id="3" name="Text 1"/>
          <p:cNvSpPr/>
          <p:nvPr/>
        </p:nvSpPr>
        <p:spPr>
          <a:xfrm>
            <a:off x="548640" y="731520"/>
            <a:ext cx="10058400" cy="502920"/>
          </a:xfrm>
          <a:prstGeom prst="rect">
            <a:avLst/>
          </a:prstGeom>
          <a:noFill/>
          <a:ln/>
        </p:spPr>
        <p:txBody>
          <a:bodyPr wrap="square" rtlCol="0" anchor="ctr"/>
          <a:lstStyle/>
          <a:p>
            <a:pPr marL="0" indent="0">
              <a:buNone/>
            </a:pPr>
            <a:r>
              <a:rPr lang="en-US" sz="2400" b="1" dirty="0">
                <a:solidFill>
                  <a:srgbClr val="1F2A33"/>
                </a:solidFill>
                <a:latin typeface="Cambria" pitchFamily="34" charset="0"/>
                <a:ea typeface="Cambria" pitchFamily="34" charset="-122"/>
                <a:cs typeface="Cambria" pitchFamily="34" charset="-120"/>
              </a:rPr>
              <a:t>Lát cắt một câu — local index → external lookup → escalate</a:t>
            </a:r>
            <a:endParaRPr lang="en-US" sz="2400" dirty="0"/>
          </a:p>
        </p:txBody>
      </p:sp>
      <p:sp>
        <p:nvSpPr>
          <p:cNvPr id="4" name="Shape 2"/>
          <p:cNvSpPr/>
          <p:nvPr/>
        </p:nvSpPr>
        <p:spPr>
          <a:xfrm>
            <a:off x="548640" y="1463040"/>
            <a:ext cx="2514600" cy="1508760"/>
          </a:xfrm>
          <a:prstGeom prst="roundRect">
            <a:avLst>
              <a:gd name="adj" fmla="val 6061"/>
            </a:avLst>
          </a:prstGeom>
          <a:solidFill>
            <a:srgbClr val="F2F7F9"/>
          </a:solidFill>
          <a:ln/>
        </p:spPr>
        <p:txBody>
          <a:bodyPr/>
          <a:lstStyle/>
          <a:p>
            <a:endParaRPr lang="en-US"/>
          </a:p>
        </p:txBody>
      </p:sp>
      <p:sp>
        <p:nvSpPr>
          <p:cNvPr id="5" name="Text 3"/>
          <p:cNvSpPr/>
          <p:nvPr/>
        </p:nvSpPr>
        <p:spPr>
          <a:xfrm>
            <a:off x="685800" y="1600200"/>
            <a:ext cx="2240280" cy="36576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Học viên</a:t>
            </a:r>
            <a:endParaRPr lang="en-US" sz="1350" dirty="0"/>
          </a:p>
        </p:txBody>
      </p:sp>
      <p:sp>
        <p:nvSpPr>
          <p:cNvPr id="6" name="Text 4"/>
          <p:cNvSpPr/>
          <p:nvPr/>
        </p:nvSpPr>
        <p:spPr>
          <a:xfrm>
            <a:off x="685800" y="1965960"/>
            <a:ext cx="2240280" cy="960120"/>
          </a:xfrm>
          <a:prstGeom prst="rect">
            <a:avLst/>
          </a:prstGeom>
          <a:noFill/>
          <a:ln/>
        </p:spPr>
        <p:txBody>
          <a:bodyPr wrap="square" rtlCol="0" anchor="t"/>
          <a:lstStyle/>
          <a:p>
            <a:pPr marL="0" indent="0">
              <a:buNone/>
            </a:pPr>
            <a:r>
              <a:rPr lang="en-US" sz="1100">
                <a:solidFill>
                  <a:srgbClr val="667380"/>
                </a:solidFill>
                <a:latin typeface="Calibri" pitchFamily="34" charset="0"/>
                <a:ea typeface="Calibri" pitchFamily="34" charset="-122"/>
                <a:cs typeface="Calibri" pitchFamily="34" charset="-120"/>
              </a:rPr>
              <a:t>Nhập </a:t>
            </a:r>
            <a:r>
              <a:rPr lang="en-US" sz="1100" dirty="0">
                <a:solidFill>
                  <a:srgbClr val="667380"/>
                </a:solidFill>
                <a:latin typeface="Calibri" pitchFamily="34" charset="0"/>
                <a:ea typeface="Calibri" pitchFamily="34" charset="-122"/>
                <a:cs typeface="Calibri" pitchFamily="34" charset="-120"/>
              </a:rPr>
              <a:t>câu hỏi</a:t>
            </a:r>
            <a:endParaRPr lang="en-US" sz="1100" dirty="0"/>
          </a:p>
        </p:txBody>
      </p:sp>
      <p:sp>
        <p:nvSpPr>
          <p:cNvPr id="7" name="Text 5"/>
          <p:cNvSpPr/>
          <p:nvPr/>
        </p:nvSpPr>
        <p:spPr>
          <a:xfrm>
            <a:off x="3063240" y="1965960"/>
            <a:ext cx="320040" cy="457200"/>
          </a:xfrm>
          <a:prstGeom prst="rect">
            <a:avLst/>
          </a:prstGeom>
          <a:noFill/>
          <a:ln/>
        </p:spPr>
        <p:txBody>
          <a:bodyPr wrap="square" rtlCol="0" anchor="ctr"/>
          <a:lstStyle/>
          <a:p>
            <a:pPr marL="0" indent="0" algn="ctr">
              <a:buNone/>
            </a:pPr>
            <a:r>
              <a:rPr lang="en-US" sz="2000" b="1" dirty="0">
                <a:solidFill>
                  <a:srgbClr val="FFB703"/>
                </a:solidFill>
              </a:rPr>
              <a:t>→</a:t>
            </a:r>
            <a:endParaRPr lang="en-US" sz="2000" dirty="0"/>
          </a:p>
        </p:txBody>
      </p:sp>
      <p:sp>
        <p:nvSpPr>
          <p:cNvPr id="8" name="Shape 6"/>
          <p:cNvSpPr/>
          <p:nvPr/>
        </p:nvSpPr>
        <p:spPr>
          <a:xfrm>
            <a:off x="3383280" y="1463040"/>
            <a:ext cx="2514600" cy="1508760"/>
          </a:xfrm>
          <a:prstGeom prst="roundRect">
            <a:avLst>
              <a:gd name="adj" fmla="val 6061"/>
            </a:avLst>
          </a:prstGeom>
          <a:solidFill>
            <a:srgbClr val="F2F7F9"/>
          </a:solidFill>
          <a:ln/>
        </p:spPr>
        <p:txBody>
          <a:bodyPr/>
          <a:lstStyle/>
          <a:p>
            <a:endParaRPr lang="en-US"/>
          </a:p>
        </p:txBody>
      </p:sp>
      <p:sp>
        <p:nvSpPr>
          <p:cNvPr id="9" name="Text 7"/>
          <p:cNvSpPr/>
          <p:nvPr/>
        </p:nvSpPr>
        <p:spPr>
          <a:xfrm>
            <a:off x="3520440" y="1600200"/>
            <a:ext cx="2240280" cy="36576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Retrieve</a:t>
            </a:r>
            <a:endParaRPr lang="en-US" sz="1350" dirty="0"/>
          </a:p>
        </p:txBody>
      </p:sp>
      <p:sp>
        <p:nvSpPr>
          <p:cNvPr id="10" name="Text 8"/>
          <p:cNvSpPr/>
          <p:nvPr/>
        </p:nvSpPr>
        <p:spPr>
          <a:xfrm>
            <a:off x="3520440" y="1965960"/>
            <a:ext cx="2240280" cy="960120"/>
          </a:xfrm>
          <a:prstGeom prst="rect">
            <a:avLst/>
          </a:prstGeom>
          <a:noFill/>
          <a:ln/>
        </p:spPr>
        <p:txBody>
          <a:bodyPr wrap="square" rtlCol="0" anchor="t"/>
          <a:lstStyle/>
          <a:p>
            <a:pPr marL="0" indent="0">
              <a:buNone/>
            </a:pPr>
            <a:r>
              <a:rPr lang="en-US" sz="1100" dirty="0">
                <a:solidFill>
                  <a:srgbClr val="667380"/>
                </a:solidFill>
                <a:latin typeface="Calibri" pitchFamily="34" charset="0"/>
                <a:ea typeface="Calibri" pitchFamily="34" charset="-122"/>
                <a:cs typeface="Calibri" pitchFamily="34" charset="-120"/>
              </a:rPr>
              <a:t>Tìm trong local index (slides, transcript, attachments)</a:t>
            </a:r>
            <a:endParaRPr lang="en-US" sz="1100" dirty="0"/>
          </a:p>
        </p:txBody>
      </p:sp>
      <p:sp>
        <p:nvSpPr>
          <p:cNvPr id="11" name="Text 9"/>
          <p:cNvSpPr/>
          <p:nvPr/>
        </p:nvSpPr>
        <p:spPr>
          <a:xfrm>
            <a:off x="5897880" y="1965960"/>
            <a:ext cx="320040" cy="457200"/>
          </a:xfrm>
          <a:prstGeom prst="rect">
            <a:avLst/>
          </a:prstGeom>
          <a:noFill/>
          <a:ln/>
        </p:spPr>
        <p:txBody>
          <a:bodyPr wrap="square" rtlCol="0" anchor="ctr"/>
          <a:lstStyle/>
          <a:p>
            <a:pPr marL="0" indent="0" algn="ctr">
              <a:buNone/>
            </a:pPr>
            <a:r>
              <a:rPr lang="en-US" sz="2000" b="1" dirty="0">
                <a:solidFill>
                  <a:srgbClr val="FFB703"/>
                </a:solidFill>
              </a:rPr>
              <a:t>→</a:t>
            </a:r>
            <a:endParaRPr lang="en-US" sz="2000" dirty="0"/>
          </a:p>
        </p:txBody>
      </p:sp>
      <p:sp>
        <p:nvSpPr>
          <p:cNvPr id="12" name="Shape 10"/>
          <p:cNvSpPr/>
          <p:nvPr/>
        </p:nvSpPr>
        <p:spPr>
          <a:xfrm>
            <a:off x="6217920" y="1463040"/>
            <a:ext cx="2514600" cy="1508760"/>
          </a:xfrm>
          <a:prstGeom prst="roundRect">
            <a:avLst>
              <a:gd name="adj" fmla="val 6061"/>
            </a:avLst>
          </a:prstGeom>
          <a:solidFill>
            <a:srgbClr val="F2F7F9"/>
          </a:solidFill>
          <a:ln/>
        </p:spPr>
        <p:txBody>
          <a:bodyPr/>
          <a:lstStyle/>
          <a:p>
            <a:endParaRPr lang="en-US"/>
          </a:p>
        </p:txBody>
      </p:sp>
      <p:sp>
        <p:nvSpPr>
          <p:cNvPr id="13" name="Text 11"/>
          <p:cNvSpPr/>
          <p:nvPr/>
        </p:nvSpPr>
        <p:spPr>
          <a:xfrm>
            <a:off x="6355080" y="1600200"/>
            <a:ext cx="2240280" cy="36576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Generate</a:t>
            </a:r>
            <a:endParaRPr lang="en-US" sz="1350" dirty="0"/>
          </a:p>
        </p:txBody>
      </p:sp>
      <p:sp>
        <p:nvSpPr>
          <p:cNvPr id="14" name="Text 12"/>
          <p:cNvSpPr/>
          <p:nvPr/>
        </p:nvSpPr>
        <p:spPr>
          <a:xfrm>
            <a:off x="6355080" y="1965960"/>
            <a:ext cx="2240280" cy="960120"/>
          </a:xfrm>
          <a:prstGeom prst="rect">
            <a:avLst/>
          </a:prstGeom>
          <a:noFill/>
          <a:ln/>
        </p:spPr>
        <p:txBody>
          <a:bodyPr wrap="square" rtlCol="0" anchor="t"/>
          <a:lstStyle/>
          <a:p>
            <a:pPr marL="0" indent="0">
              <a:buNone/>
            </a:pPr>
            <a:r>
              <a:rPr lang="en-US" sz="1100" dirty="0">
                <a:solidFill>
                  <a:srgbClr val="667380"/>
                </a:solidFill>
                <a:latin typeface="Calibri" pitchFamily="34" charset="0"/>
                <a:ea typeface="Calibri" pitchFamily="34" charset="-122"/>
                <a:cs typeface="Calibri" pitchFamily="34" charset="-120"/>
              </a:rPr>
              <a:t>Found → trả lời + mã [Txx-NNN]; else external lookup (course host → vendor docs → public repo, ≤3 nguồn)</a:t>
            </a:r>
            <a:endParaRPr lang="en-US" sz="1100" dirty="0"/>
          </a:p>
        </p:txBody>
      </p:sp>
      <p:sp>
        <p:nvSpPr>
          <p:cNvPr id="15" name="Text 13"/>
          <p:cNvSpPr/>
          <p:nvPr/>
        </p:nvSpPr>
        <p:spPr>
          <a:xfrm>
            <a:off x="8732520" y="1965960"/>
            <a:ext cx="320040" cy="457200"/>
          </a:xfrm>
          <a:prstGeom prst="rect">
            <a:avLst/>
          </a:prstGeom>
          <a:noFill/>
          <a:ln/>
        </p:spPr>
        <p:txBody>
          <a:bodyPr wrap="square" rtlCol="0" anchor="ctr"/>
          <a:lstStyle/>
          <a:p>
            <a:pPr marL="0" indent="0" algn="ctr">
              <a:buNone/>
            </a:pPr>
            <a:r>
              <a:rPr lang="en-US" sz="2000" b="1" dirty="0">
                <a:solidFill>
                  <a:srgbClr val="FFB703"/>
                </a:solidFill>
              </a:rPr>
              <a:t>→</a:t>
            </a:r>
            <a:endParaRPr lang="en-US" sz="2000" dirty="0"/>
          </a:p>
        </p:txBody>
      </p:sp>
      <p:sp>
        <p:nvSpPr>
          <p:cNvPr id="16" name="Shape 14"/>
          <p:cNvSpPr/>
          <p:nvPr/>
        </p:nvSpPr>
        <p:spPr>
          <a:xfrm>
            <a:off x="9052560" y="1463040"/>
            <a:ext cx="2514600" cy="1508760"/>
          </a:xfrm>
          <a:prstGeom prst="roundRect">
            <a:avLst>
              <a:gd name="adj" fmla="val 6061"/>
            </a:avLst>
          </a:prstGeom>
          <a:solidFill>
            <a:srgbClr val="21295C"/>
          </a:solidFill>
          <a:ln/>
        </p:spPr>
        <p:txBody>
          <a:bodyPr/>
          <a:lstStyle/>
          <a:p>
            <a:endParaRPr lang="en-US"/>
          </a:p>
        </p:txBody>
      </p:sp>
      <p:sp>
        <p:nvSpPr>
          <p:cNvPr id="17" name="Text 15"/>
          <p:cNvSpPr/>
          <p:nvPr/>
        </p:nvSpPr>
        <p:spPr>
          <a:xfrm>
            <a:off x="9189720" y="1600200"/>
            <a:ext cx="224028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Verify &amp; trả lời</a:t>
            </a:r>
            <a:endParaRPr lang="en-US" sz="1350" dirty="0"/>
          </a:p>
        </p:txBody>
      </p:sp>
      <p:sp>
        <p:nvSpPr>
          <p:cNvPr id="18" name="Text 16"/>
          <p:cNvSpPr/>
          <p:nvPr/>
        </p:nvSpPr>
        <p:spPr>
          <a:xfrm>
            <a:off x="9189720" y="1965960"/>
            <a:ext cx="2240280" cy="960120"/>
          </a:xfrm>
          <a:prstGeom prst="rect">
            <a:avLst/>
          </a:prstGeom>
          <a:noFill/>
          <a:ln/>
        </p:spPr>
        <p:txBody>
          <a:bodyPr wrap="square" rtlCol="0" anchor="t"/>
          <a:lstStyle/>
          <a:p>
            <a:pPr marL="0" indent="0">
              <a:buNone/>
            </a:pPr>
            <a:r>
              <a:rPr lang="en-US" sz="1100" dirty="0">
                <a:solidFill>
                  <a:srgbClr val="CFE8EF"/>
                </a:solidFill>
                <a:latin typeface="Calibri" pitchFamily="34" charset="0"/>
                <a:ea typeface="Calibri" pitchFamily="34" charset="-122"/>
                <a:cs typeface="Calibri" pitchFamily="34" charset="-120"/>
              </a:rPr>
              <a:t>Confidence ≥ medium → URL + trích đoạn ≤200 ký tự; thấp/mâu thuẫn → tag "escalate-to-TA"</a:t>
            </a:r>
            <a:endParaRPr lang="en-US" sz="1100" dirty="0"/>
          </a:p>
        </p:txBody>
      </p:sp>
      <p:sp>
        <p:nvSpPr>
          <p:cNvPr id="19" name="Shape 17"/>
          <p:cNvSpPr/>
          <p:nvPr/>
        </p:nvSpPr>
        <p:spPr>
          <a:xfrm>
            <a:off x="548640" y="3246120"/>
            <a:ext cx="5349240" cy="1691640"/>
          </a:xfrm>
          <a:prstGeom prst="roundRect">
            <a:avLst>
              <a:gd name="adj" fmla="val 5405"/>
            </a:avLst>
          </a:prstGeom>
          <a:solidFill>
            <a:srgbClr val="F2F7F9"/>
          </a:solidFill>
          <a:ln/>
        </p:spPr>
        <p:txBody>
          <a:bodyPr/>
          <a:lstStyle/>
          <a:p>
            <a:endParaRPr lang="en-US"/>
          </a:p>
        </p:txBody>
      </p:sp>
      <p:sp>
        <p:nvSpPr>
          <p:cNvPr id="20" name="Text 18"/>
          <p:cNvSpPr/>
          <p:nvPr/>
        </p:nvSpPr>
        <p:spPr>
          <a:xfrm>
            <a:off x="777240" y="3383280"/>
            <a:ext cx="493776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Mức automation: Conditional</a:t>
            </a:r>
            <a:endParaRPr lang="en-US" sz="1400" dirty="0"/>
          </a:p>
        </p:txBody>
      </p:sp>
      <p:sp>
        <p:nvSpPr>
          <p:cNvPr id="21" name="Text 19"/>
          <p:cNvSpPr/>
          <p:nvPr/>
        </p:nvSpPr>
        <p:spPr>
          <a:xfrm>
            <a:off x="777240" y="3749040"/>
            <a:ext cx="4937760" cy="114300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AI tự trả lời khi local index có nguồn phù hợp, hoặc external lookup đạt confidence ≥ medium; gắn tag "escalate-to-TA" khi mọi nguồn confidence thấp hoặc mâu thuẫn. Lý do cost-of-error: bịa nguồn khiến học viên học sai (đắt) — escalate cho trợ giảng thì học viên vẫn được hỗ trợ đúng (rẻ hơn, an toàn hơn).</a:t>
            </a:r>
            <a:endParaRPr lang="en-US" sz="1150" dirty="0"/>
          </a:p>
        </p:txBody>
      </p:sp>
      <p:sp>
        <p:nvSpPr>
          <p:cNvPr id="22" name="Shape 20"/>
          <p:cNvSpPr/>
          <p:nvPr/>
        </p:nvSpPr>
        <p:spPr>
          <a:xfrm>
            <a:off x="6080760" y="3246120"/>
            <a:ext cx="5532120" cy="1691640"/>
          </a:xfrm>
          <a:prstGeom prst="roundRect">
            <a:avLst>
              <a:gd name="adj" fmla="val 5405"/>
            </a:avLst>
          </a:prstGeom>
          <a:solidFill>
            <a:srgbClr val="21295C"/>
          </a:solidFill>
          <a:ln/>
        </p:spPr>
        <p:txBody>
          <a:bodyPr/>
          <a:lstStyle/>
          <a:p>
            <a:endParaRPr lang="en-US"/>
          </a:p>
        </p:txBody>
      </p:sp>
      <p:sp>
        <p:nvSpPr>
          <p:cNvPr id="23" name="Text 21"/>
          <p:cNvSpPr/>
          <p:nvPr/>
        </p:nvSpPr>
        <p:spPr>
          <a:xfrm>
            <a:off x="6309360" y="3383280"/>
            <a:ext cx="51206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Demo trực tiếp — 2 case</a:t>
            </a:r>
            <a:endParaRPr lang="en-US" sz="1400" dirty="0"/>
          </a:p>
        </p:txBody>
      </p:sp>
      <p:sp>
        <p:nvSpPr>
          <p:cNvPr id="24" name="Text 22"/>
          <p:cNvSpPr/>
          <p:nvPr/>
        </p:nvSpPr>
        <p:spPr>
          <a:xfrm>
            <a:off x="6309360" y="3794760"/>
            <a:ext cx="5120640" cy="1097280"/>
          </a:xfrm>
          <a:prstGeom prst="rect">
            <a:avLst/>
          </a:prstGeom>
          <a:noFill/>
          <a:ln/>
        </p:spPr>
        <p:txBody>
          <a:bodyPr wrap="square" rtlCol="0" anchor="t"/>
          <a:lstStyle/>
          <a:p>
            <a:pPr marL="0" indent="0">
              <a:buNone/>
            </a:pPr>
            <a:r>
              <a:rPr lang="en-US" sz="1200" b="1" dirty="0">
                <a:solidFill>
                  <a:srgbClr val="FFB703"/>
                </a:solidFill>
                <a:latin typeface="Calibri" pitchFamily="34" charset="0"/>
                <a:ea typeface="Calibri" pitchFamily="34" charset="-122"/>
                <a:cs typeface="Calibri" pitchFamily="34" charset="-120"/>
              </a:rPr>
              <a:t>① Case chuẩn: </a:t>
            </a:r>
            <a:r>
              <a:rPr lang="en-US" sz="1200" dirty="0">
                <a:solidFill>
                  <a:srgbClr val="FFFFFF"/>
                </a:solidFill>
                <a:latin typeface="Calibri" pitchFamily="34" charset="0"/>
                <a:ea typeface="Calibri" pitchFamily="34" charset="-122"/>
                <a:cs typeface="Calibri" pitchFamily="34" charset="-120"/>
              </a:rPr>
              <a:t>câu hỏi có trong local index (vd: "Day 1 giới thiệu những chủ đề chính nào?") → trả lời kèm trích dẫn trang slide.
</a:t>
            </a:r>
            <a:endParaRPr lang="en-US" sz="1200" dirty="0"/>
          </a:p>
          <a:p>
            <a:pPr marL="0" indent="0">
              <a:buNone/>
            </a:pPr>
            <a:r>
              <a:rPr lang="en-US" sz="1200" b="1" dirty="0">
                <a:solidFill>
                  <a:srgbClr val="FFB703"/>
                </a:solidFill>
                <a:latin typeface="Calibri" pitchFamily="34" charset="0"/>
                <a:ea typeface="Calibri" pitchFamily="34" charset="-122"/>
                <a:cs typeface="Calibri" pitchFamily="34" charset="-120"/>
              </a:rPr>
              <a:t>② Case khó: </a:t>
            </a:r>
            <a:r>
              <a:rPr lang="en-US" sz="1200" dirty="0">
                <a:solidFill>
                  <a:srgbClr val="FFFFFF"/>
                </a:solidFill>
                <a:latin typeface="Calibri" pitchFamily="34" charset="0"/>
                <a:ea typeface="Calibri" pitchFamily="34" charset="-122"/>
                <a:cs typeface="Calibri" pitchFamily="34" charset="-120"/>
              </a:rPr>
              <a:t>câu hỏi ngoài phạm vi khoá (vd: yêu cầu refund) hoặc mọi nguồn confidence thấp → hệ thống từ chối bịa, gắn tag "escalate-to-TA".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marL="0" indent="0">
              <a:buNone/>
            </a:pPr>
            <a:r>
              <a:rPr lang="en-US" sz="1200" b="1" kern="0" spc="200" dirty="0">
                <a:solidFill>
                  <a:srgbClr val="21295C"/>
                </a:solidFill>
                <a:latin typeface="Calibri" pitchFamily="34" charset="0"/>
                <a:ea typeface="Calibri" pitchFamily="34" charset="-122"/>
                <a:cs typeface="Calibri" pitchFamily="34" charset="-120"/>
              </a:rPr>
              <a:t>04 · KẾT QUẢ ĐO</a:t>
            </a:r>
            <a:endParaRPr lang="en-US" sz="1200" dirty="0"/>
          </a:p>
        </p:txBody>
      </p:sp>
      <p:sp>
        <p:nvSpPr>
          <p:cNvPr id="3" name="Text 1"/>
          <p:cNvSpPr/>
          <p:nvPr/>
        </p:nvSpPr>
        <p:spPr>
          <a:xfrm>
            <a:off x="548640" y="658368"/>
            <a:ext cx="10058400" cy="502920"/>
          </a:xfrm>
          <a:prstGeom prst="rect">
            <a:avLst/>
          </a:prstGeom>
          <a:noFill/>
          <a:ln/>
        </p:spPr>
        <p:txBody>
          <a:bodyPr wrap="square" rtlCol="0" anchor="ctr"/>
          <a:lstStyle/>
          <a:p>
            <a:pPr marL="0" indent="0">
              <a:buNone/>
            </a:pPr>
            <a:r>
              <a:rPr lang="en-US" sz="2400" b="1">
                <a:solidFill>
                  <a:srgbClr val="1F2A33"/>
                </a:solidFill>
                <a:latin typeface="Cambria" pitchFamily="34" charset="0"/>
                <a:ea typeface="Cambria" pitchFamily="34" charset="-122"/>
                <a:cs typeface="Cambria" pitchFamily="34" charset="-120"/>
              </a:rPr>
              <a:t>21 </a:t>
            </a:r>
            <a:r>
              <a:rPr lang="en-US" sz="2400" b="1" dirty="0">
                <a:solidFill>
                  <a:srgbClr val="1F2A33"/>
                </a:solidFill>
                <a:latin typeface="Cambria" pitchFamily="34" charset="0"/>
                <a:ea typeface="Cambria" pitchFamily="34" charset="-122"/>
                <a:cs typeface="Cambria" pitchFamily="34" charset="-120"/>
              </a:rPr>
              <a:t>golden case, 5 lớp — run-1 benchmark</a:t>
            </a:r>
            <a:endParaRPr lang="en-US" sz="2400" dirty="0"/>
          </a:p>
        </p:txBody>
      </p:sp>
      <p:sp>
        <p:nvSpPr>
          <p:cNvPr id="23" name="Shape 2">
            <a:extLst>
              <a:ext uri="{FF2B5EF4-FFF2-40B4-BE49-F238E27FC236}">
                <a16:creationId xmlns:a16="http://schemas.microsoft.com/office/drawing/2014/main" id="{EBB6D357-9DB7-2BBD-4A53-816EBBD2FB63}"/>
              </a:ext>
            </a:extLst>
          </p:cNvPr>
          <p:cNvSpPr/>
          <p:nvPr/>
        </p:nvSpPr>
        <p:spPr>
          <a:xfrm>
            <a:off x="3489960" y="1298448"/>
            <a:ext cx="2606040" cy="1417320"/>
          </a:xfrm>
          <a:prstGeom prst="roundRect">
            <a:avLst>
              <a:gd name="adj" fmla="val 6452"/>
            </a:avLst>
          </a:prstGeom>
          <a:solidFill>
            <a:srgbClr val="F2F7F9"/>
          </a:solidFill>
          <a:ln w="15875">
            <a:solidFill>
              <a:srgbClr val="1C7293"/>
            </a:solidFill>
            <a:prstDash val="solid"/>
          </a:ln>
        </p:spPr>
        <p:txBody>
          <a:bodyPr/>
          <a:lstStyle/>
          <a:p>
            <a:endParaRPr lang="en-US"/>
          </a:p>
        </p:txBody>
      </p:sp>
      <p:sp>
        <p:nvSpPr>
          <p:cNvPr id="25" name="Text 3">
            <a:extLst>
              <a:ext uri="{FF2B5EF4-FFF2-40B4-BE49-F238E27FC236}">
                <a16:creationId xmlns:a16="http://schemas.microsoft.com/office/drawing/2014/main" id="{3E135301-E584-CC5D-A8D7-A3CC60762A8C}"/>
              </a:ext>
            </a:extLst>
          </p:cNvPr>
          <p:cNvSpPr/>
          <p:nvPr/>
        </p:nvSpPr>
        <p:spPr>
          <a:xfrm>
            <a:off x="3489960" y="1408176"/>
            <a:ext cx="2606040" cy="594360"/>
          </a:xfrm>
          <a:prstGeom prst="rect">
            <a:avLst/>
          </a:prstGeom>
          <a:noFill/>
          <a:ln/>
        </p:spPr>
        <p:txBody>
          <a:bodyPr wrap="square" rtlCol="0" anchor="ctr"/>
          <a:lstStyle/>
          <a:p>
            <a:pPr marL="0" indent="0" algn="ctr">
              <a:buNone/>
            </a:pPr>
            <a:r>
              <a:rPr lang="en-US" sz="3000" b="1">
                <a:solidFill>
                  <a:srgbClr val="1C7293"/>
                </a:solidFill>
                <a:latin typeface="Cambria" pitchFamily="34" charset="0"/>
                <a:ea typeface="Cambria" pitchFamily="34" charset="-122"/>
                <a:cs typeface="Cambria" pitchFamily="34" charset="-120"/>
              </a:rPr>
              <a:t>83.3%</a:t>
            </a:r>
            <a:endParaRPr lang="en-US" sz="3000" dirty="0"/>
          </a:p>
        </p:txBody>
      </p:sp>
      <p:sp>
        <p:nvSpPr>
          <p:cNvPr id="27" name="Text 4">
            <a:extLst>
              <a:ext uri="{FF2B5EF4-FFF2-40B4-BE49-F238E27FC236}">
                <a16:creationId xmlns:a16="http://schemas.microsoft.com/office/drawing/2014/main" id="{984FF31E-4461-D73D-C9F1-1EAD2E446AC9}"/>
              </a:ext>
            </a:extLst>
          </p:cNvPr>
          <p:cNvSpPr/>
          <p:nvPr/>
        </p:nvSpPr>
        <p:spPr>
          <a:xfrm>
            <a:off x="3581400" y="2075688"/>
            <a:ext cx="2423160" cy="548640"/>
          </a:xfrm>
          <a:prstGeom prst="rect">
            <a:avLst/>
          </a:prstGeom>
          <a:noFill/>
          <a:ln/>
        </p:spPr>
        <p:txBody>
          <a:bodyPr wrap="square" rtlCol="0" anchor="t"/>
          <a:lstStyle/>
          <a:p>
            <a:pPr marL="0" indent="0" algn="ctr">
              <a:buNone/>
            </a:pPr>
            <a:r>
              <a:rPr lang="en-US" sz="1050">
                <a:solidFill>
                  <a:srgbClr val="667380"/>
                </a:solidFill>
                <a:latin typeface="Calibri" pitchFamily="34" charset="0"/>
                <a:ea typeface="Calibri" pitchFamily="34" charset="-122"/>
                <a:cs typeface="Calibri" pitchFamily="34" charset="-120"/>
              </a:rPr>
              <a:t>Bịa nguồn (5/6)</a:t>
            </a:r>
            <a:endParaRPr lang="en-US" sz="1050" dirty="0"/>
          </a:p>
        </p:txBody>
      </p:sp>
      <p:sp>
        <p:nvSpPr>
          <p:cNvPr id="29" name="Shape 2">
            <a:extLst>
              <a:ext uri="{FF2B5EF4-FFF2-40B4-BE49-F238E27FC236}">
                <a16:creationId xmlns:a16="http://schemas.microsoft.com/office/drawing/2014/main" id="{7ADF08F5-7FE3-CA9A-D7A0-039E16539F09}"/>
              </a:ext>
            </a:extLst>
          </p:cNvPr>
          <p:cNvSpPr/>
          <p:nvPr/>
        </p:nvSpPr>
        <p:spPr>
          <a:xfrm>
            <a:off x="548640" y="1325880"/>
            <a:ext cx="2606040" cy="1417320"/>
          </a:xfrm>
          <a:prstGeom prst="roundRect">
            <a:avLst>
              <a:gd name="adj" fmla="val 6452"/>
            </a:avLst>
          </a:prstGeom>
          <a:solidFill>
            <a:srgbClr val="F2F7F9"/>
          </a:solidFill>
          <a:ln w="15875">
            <a:solidFill>
              <a:srgbClr val="1C7293"/>
            </a:solidFill>
            <a:prstDash val="solid"/>
          </a:ln>
        </p:spPr>
        <p:txBody>
          <a:bodyPr/>
          <a:lstStyle/>
          <a:p>
            <a:endParaRPr lang="en-US"/>
          </a:p>
        </p:txBody>
      </p:sp>
      <p:sp>
        <p:nvSpPr>
          <p:cNvPr id="31" name="Text 3">
            <a:extLst>
              <a:ext uri="{FF2B5EF4-FFF2-40B4-BE49-F238E27FC236}">
                <a16:creationId xmlns:a16="http://schemas.microsoft.com/office/drawing/2014/main" id="{EF989129-68E7-1F47-5FB3-268CC79220BB}"/>
              </a:ext>
            </a:extLst>
          </p:cNvPr>
          <p:cNvSpPr/>
          <p:nvPr/>
        </p:nvSpPr>
        <p:spPr>
          <a:xfrm>
            <a:off x="548640" y="1435608"/>
            <a:ext cx="2606040" cy="594360"/>
          </a:xfrm>
          <a:prstGeom prst="rect">
            <a:avLst/>
          </a:prstGeom>
          <a:noFill/>
          <a:ln/>
        </p:spPr>
        <p:txBody>
          <a:bodyPr wrap="square" rtlCol="0" anchor="ctr"/>
          <a:lstStyle/>
          <a:p>
            <a:pPr marL="0" indent="0" algn="ctr">
              <a:buNone/>
            </a:pPr>
            <a:r>
              <a:rPr lang="en-US" sz="3000" b="1">
                <a:solidFill>
                  <a:srgbClr val="1C7293"/>
                </a:solidFill>
                <a:latin typeface="Cambria" pitchFamily="34" charset="0"/>
                <a:ea typeface="Cambria" pitchFamily="34" charset="-122"/>
                <a:cs typeface="Cambria" pitchFamily="34" charset="-120"/>
              </a:rPr>
              <a:t>95.2%</a:t>
            </a:r>
            <a:endParaRPr lang="en-US" sz="3000" dirty="0"/>
          </a:p>
        </p:txBody>
      </p:sp>
      <p:sp>
        <p:nvSpPr>
          <p:cNvPr id="33" name="Text 4">
            <a:extLst>
              <a:ext uri="{FF2B5EF4-FFF2-40B4-BE49-F238E27FC236}">
                <a16:creationId xmlns:a16="http://schemas.microsoft.com/office/drawing/2014/main" id="{A67B192F-7869-68A6-D459-1E31F2578792}"/>
              </a:ext>
            </a:extLst>
          </p:cNvPr>
          <p:cNvSpPr/>
          <p:nvPr/>
        </p:nvSpPr>
        <p:spPr>
          <a:xfrm>
            <a:off x="640080" y="2103120"/>
            <a:ext cx="2423160" cy="548640"/>
          </a:xfrm>
          <a:prstGeom prst="rect">
            <a:avLst/>
          </a:prstGeom>
          <a:noFill/>
          <a:ln/>
        </p:spPr>
        <p:txBody>
          <a:bodyPr wrap="square" rtlCol="0" anchor="t"/>
          <a:lstStyle/>
          <a:p>
            <a:pPr marL="0" indent="0" algn="ctr">
              <a:buNone/>
            </a:pPr>
            <a:r>
              <a:rPr lang="en-US" sz="1050" dirty="0">
                <a:solidFill>
                  <a:srgbClr val="667380"/>
                </a:solidFill>
                <a:latin typeface="Calibri" pitchFamily="34" charset="0"/>
                <a:ea typeface="Calibri" pitchFamily="34" charset="-122"/>
                <a:cs typeface="Calibri" pitchFamily="34" charset="-120"/>
              </a:rPr>
              <a:t>Pass rate </a:t>
            </a:r>
            <a:r>
              <a:rPr lang="en-US" sz="1050">
                <a:solidFill>
                  <a:srgbClr val="667380"/>
                </a:solidFill>
                <a:latin typeface="Calibri" pitchFamily="34" charset="0"/>
                <a:ea typeface="Calibri" pitchFamily="34" charset="-122"/>
                <a:cs typeface="Calibri" pitchFamily="34" charset="-120"/>
              </a:rPr>
              <a:t>tổng (20/21)  </a:t>
            </a:r>
            <a:endParaRPr lang="en-US" sz="1050" dirty="0"/>
          </a:p>
        </p:txBody>
      </p:sp>
      <p:sp>
        <p:nvSpPr>
          <p:cNvPr id="35" name="Shape 2">
            <a:extLst>
              <a:ext uri="{FF2B5EF4-FFF2-40B4-BE49-F238E27FC236}">
                <a16:creationId xmlns:a16="http://schemas.microsoft.com/office/drawing/2014/main" id="{92008DD1-DB67-FC44-69E6-C5809800C5EA}"/>
              </a:ext>
            </a:extLst>
          </p:cNvPr>
          <p:cNvSpPr/>
          <p:nvPr/>
        </p:nvSpPr>
        <p:spPr>
          <a:xfrm>
            <a:off x="6560820" y="1293876"/>
            <a:ext cx="2606040" cy="1417320"/>
          </a:xfrm>
          <a:prstGeom prst="roundRect">
            <a:avLst>
              <a:gd name="adj" fmla="val 6452"/>
            </a:avLst>
          </a:prstGeom>
          <a:solidFill>
            <a:srgbClr val="F2F7F9"/>
          </a:solidFill>
          <a:ln w="15875">
            <a:solidFill>
              <a:srgbClr val="1C7293"/>
            </a:solidFill>
            <a:prstDash val="solid"/>
          </a:ln>
        </p:spPr>
        <p:txBody>
          <a:bodyPr/>
          <a:lstStyle/>
          <a:p>
            <a:endParaRPr lang="en-US"/>
          </a:p>
        </p:txBody>
      </p:sp>
      <p:sp>
        <p:nvSpPr>
          <p:cNvPr id="37" name="Text 3">
            <a:extLst>
              <a:ext uri="{FF2B5EF4-FFF2-40B4-BE49-F238E27FC236}">
                <a16:creationId xmlns:a16="http://schemas.microsoft.com/office/drawing/2014/main" id="{52B0CBE1-D718-78A8-FF14-95F4E305D4A7}"/>
              </a:ext>
            </a:extLst>
          </p:cNvPr>
          <p:cNvSpPr/>
          <p:nvPr/>
        </p:nvSpPr>
        <p:spPr>
          <a:xfrm>
            <a:off x="6560820" y="1403604"/>
            <a:ext cx="2606040" cy="594360"/>
          </a:xfrm>
          <a:prstGeom prst="rect">
            <a:avLst/>
          </a:prstGeom>
          <a:noFill/>
          <a:ln/>
        </p:spPr>
        <p:txBody>
          <a:bodyPr wrap="square" rtlCol="0" anchor="ctr"/>
          <a:lstStyle/>
          <a:p>
            <a:pPr marL="0" indent="0" algn="ctr">
              <a:buNone/>
            </a:pPr>
            <a:r>
              <a:rPr lang="en-US" sz="3000" b="1">
                <a:solidFill>
                  <a:srgbClr val="1C7293"/>
                </a:solidFill>
                <a:latin typeface="Cambria" pitchFamily="34" charset="0"/>
                <a:ea typeface="Cambria" pitchFamily="34" charset="-122"/>
                <a:cs typeface="Cambria" pitchFamily="34" charset="-120"/>
              </a:rPr>
              <a:t>57%</a:t>
            </a:r>
            <a:endParaRPr lang="en-US" sz="3000" dirty="0"/>
          </a:p>
        </p:txBody>
      </p:sp>
      <p:sp>
        <p:nvSpPr>
          <p:cNvPr id="39" name="Text 4">
            <a:extLst>
              <a:ext uri="{FF2B5EF4-FFF2-40B4-BE49-F238E27FC236}">
                <a16:creationId xmlns:a16="http://schemas.microsoft.com/office/drawing/2014/main" id="{67C87DC5-10D9-D13C-32AB-4927CCD45221}"/>
              </a:ext>
            </a:extLst>
          </p:cNvPr>
          <p:cNvSpPr/>
          <p:nvPr/>
        </p:nvSpPr>
        <p:spPr>
          <a:xfrm>
            <a:off x="6652260" y="2071116"/>
            <a:ext cx="2423160" cy="548640"/>
          </a:xfrm>
          <a:prstGeom prst="rect">
            <a:avLst/>
          </a:prstGeom>
          <a:noFill/>
          <a:ln/>
        </p:spPr>
        <p:txBody>
          <a:bodyPr wrap="square" rtlCol="0" anchor="t"/>
          <a:lstStyle/>
          <a:p>
            <a:pPr marL="0" indent="0" algn="ctr">
              <a:buNone/>
            </a:pPr>
            <a:r>
              <a:rPr lang="en-US" sz="1050">
                <a:solidFill>
                  <a:srgbClr val="667380"/>
                </a:solidFill>
                <a:latin typeface="Calibri" pitchFamily="34" charset="0"/>
                <a:ea typeface="Calibri" pitchFamily="34" charset="-122"/>
                <a:cs typeface="Calibri" pitchFamily="34" charset="-120"/>
              </a:rPr>
              <a:t>Cite sai (12/21) </a:t>
            </a:r>
            <a:endParaRPr lang="en-US" sz="1050" dirty="0"/>
          </a:p>
        </p:txBody>
      </p:sp>
      <p:sp>
        <p:nvSpPr>
          <p:cNvPr id="43" name="Shape 2">
            <a:extLst>
              <a:ext uri="{FF2B5EF4-FFF2-40B4-BE49-F238E27FC236}">
                <a16:creationId xmlns:a16="http://schemas.microsoft.com/office/drawing/2014/main" id="{3DC64FC8-C49D-7365-356B-8406B1646789}"/>
              </a:ext>
            </a:extLst>
          </p:cNvPr>
          <p:cNvSpPr/>
          <p:nvPr/>
        </p:nvSpPr>
        <p:spPr>
          <a:xfrm>
            <a:off x="9369879" y="1281466"/>
            <a:ext cx="2606040" cy="1417320"/>
          </a:xfrm>
          <a:prstGeom prst="roundRect">
            <a:avLst>
              <a:gd name="adj" fmla="val 6452"/>
            </a:avLst>
          </a:prstGeom>
          <a:solidFill>
            <a:srgbClr val="F2F7F9"/>
          </a:solidFill>
          <a:ln w="15875">
            <a:solidFill>
              <a:srgbClr val="1C7293"/>
            </a:solidFill>
            <a:prstDash val="solid"/>
          </a:ln>
        </p:spPr>
        <p:txBody>
          <a:bodyPr/>
          <a:lstStyle/>
          <a:p>
            <a:endParaRPr lang="en-US"/>
          </a:p>
        </p:txBody>
      </p:sp>
      <p:sp>
        <p:nvSpPr>
          <p:cNvPr id="45" name="Text 3">
            <a:extLst>
              <a:ext uri="{FF2B5EF4-FFF2-40B4-BE49-F238E27FC236}">
                <a16:creationId xmlns:a16="http://schemas.microsoft.com/office/drawing/2014/main" id="{4EADDDD7-58AC-A375-7632-955CBE5200E8}"/>
              </a:ext>
            </a:extLst>
          </p:cNvPr>
          <p:cNvSpPr/>
          <p:nvPr/>
        </p:nvSpPr>
        <p:spPr>
          <a:xfrm>
            <a:off x="9369879" y="1391194"/>
            <a:ext cx="2606040" cy="594360"/>
          </a:xfrm>
          <a:prstGeom prst="rect">
            <a:avLst/>
          </a:prstGeom>
          <a:noFill/>
          <a:ln/>
        </p:spPr>
        <p:txBody>
          <a:bodyPr wrap="square" rtlCol="0" anchor="ctr"/>
          <a:lstStyle/>
          <a:p>
            <a:pPr marL="0" indent="0" algn="ctr">
              <a:buNone/>
            </a:pPr>
            <a:r>
              <a:rPr lang="en-US" sz="3000" b="1">
                <a:solidFill>
                  <a:srgbClr val="1C7293"/>
                </a:solidFill>
                <a:latin typeface="Cambria" pitchFamily="34" charset="0"/>
                <a:ea typeface="Cambria" pitchFamily="34" charset="-122"/>
                <a:cs typeface="Cambria" pitchFamily="34" charset="-120"/>
              </a:rPr>
              <a:t>100%</a:t>
            </a:r>
            <a:endParaRPr lang="en-US" sz="3000" dirty="0"/>
          </a:p>
        </p:txBody>
      </p:sp>
      <p:sp>
        <p:nvSpPr>
          <p:cNvPr id="47" name="Text 4">
            <a:extLst>
              <a:ext uri="{FF2B5EF4-FFF2-40B4-BE49-F238E27FC236}">
                <a16:creationId xmlns:a16="http://schemas.microsoft.com/office/drawing/2014/main" id="{182D85F4-CBC0-F4D2-C2AF-C131CD69EA84}"/>
              </a:ext>
            </a:extLst>
          </p:cNvPr>
          <p:cNvSpPr/>
          <p:nvPr/>
        </p:nvSpPr>
        <p:spPr>
          <a:xfrm>
            <a:off x="9461319" y="2058706"/>
            <a:ext cx="2423160" cy="548640"/>
          </a:xfrm>
          <a:prstGeom prst="rect">
            <a:avLst/>
          </a:prstGeom>
          <a:noFill/>
          <a:ln/>
        </p:spPr>
        <p:txBody>
          <a:bodyPr wrap="square" rtlCol="0" anchor="t"/>
          <a:lstStyle/>
          <a:p>
            <a:pPr marL="0" indent="0" algn="ctr">
              <a:buNone/>
            </a:pPr>
            <a:r>
              <a:rPr lang="en-US" sz="1050">
                <a:solidFill>
                  <a:srgbClr val="667380"/>
                </a:solidFill>
                <a:latin typeface="Calibri" pitchFamily="34" charset="0"/>
                <a:ea typeface="Calibri" pitchFamily="34" charset="-122"/>
                <a:cs typeface="Calibri" pitchFamily="34" charset="-120"/>
              </a:rPr>
              <a:t>Đoán khi thiếu/không có (3/3)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21295C"/>
                </a:solidFill>
                <a:latin typeface="Calibri" pitchFamily="34" charset="0"/>
                <a:ea typeface="Calibri" pitchFamily="34" charset="-122"/>
                <a:cs typeface="Calibri" pitchFamily="34" charset="-120"/>
              </a:rPr>
              <a:t>05 · USER THẬT NÓI GÌ</a:t>
            </a:r>
            <a:endParaRPr lang="en-US" sz="1200" dirty="0"/>
          </a:p>
        </p:txBody>
      </p:sp>
      <p:sp>
        <p:nvSpPr>
          <p:cNvPr id="3" name="Text 1"/>
          <p:cNvSpPr/>
          <p:nvPr/>
        </p:nvSpPr>
        <p:spPr>
          <a:xfrm>
            <a:off x="548640" y="73152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Từ chatlog thực tế</a:t>
            </a:r>
            <a:endParaRPr lang="en-US" sz="2600" dirty="0"/>
          </a:p>
        </p:txBody>
      </p:sp>
      <p:sp>
        <p:nvSpPr>
          <p:cNvPr id="4" name="Shape 2"/>
          <p:cNvSpPr/>
          <p:nvPr/>
        </p:nvSpPr>
        <p:spPr>
          <a:xfrm>
            <a:off x="548640" y="1600200"/>
            <a:ext cx="5349240" cy="1965960"/>
          </a:xfrm>
          <a:prstGeom prst="roundRect">
            <a:avLst>
              <a:gd name="adj" fmla="val 4651"/>
            </a:avLst>
          </a:prstGeom>
          <a:solidFill>
            <a:srgbClr val="F2F7F9"/>
          </a:solidFill>
          <a:ln/>
        </p:spPr>
        <p:txBody>
          <a:bodyPr/>
          <a:lstStyle/>
          <a:p>
            <a:endParaRPr lang="en-US"/>
          </a:p>
        </p:txBody>
      </p:sp>
      <p:sp>
        <p:nvSpPr>
          <p:cNvPr id="5" name="Text 3"/>
          <p:cNvSpPr/>
          <p:nvPr/>
        </p:nvSpPr>
        <p:spPr>
          <a:xfrm>
            <a:off x="868680" y="1783080"/>
            <a:ext cx="4709160" cy="1280160"/>
          </a:xfrm>
          <a:prstGeom prst="rect">
            <a:avLst/>
          </a:prstGeom>
          <a:noFill/>
          <a:ln/>
        </p:spPr>
        <p:txBody>
          <a:bodyPr wrap="square" rtlCol="0" anchor="t"/>
          <a:lstStyle/>
          <a:p>
            <a:pPr marL="0" indent="0">
              <a:buNone/>
            </a:pPr>
            <a:r>
              <a:rPr lang="en-US" sz="1500" i="1">
                <a:solidFill>
                  <a:srgbClr val="1F2A33"/>
                </a:solidFill>
                <a:latin typeface="Cambria" pitchFamily="34" charset="0"/>
                <a:ea typeface="Cambria" pitchFamily="34" charset="-122"/>
                <a:cs typeface="Cambria" pitchFamily="34" charset="-120"/>
              </a:rPr>
              <a:t>“Context là gì.”</a:t>
            </a:r>
            <a:endParaRPr lang="en-US" sz="1500" dirty="0"/>
          </a:p>
        </p:txBody>
      </p:sp>
      <p:sp>
        <p:nvSpPr>
          <p:cNvPr id="6" name="Text 4"/>
          <p:cNvSpPr/>
          <p:nvPr/>
        </p:nvSpPr>
        <p:spPr>
          <a:xfrm>
            <a:off x="868680" y="3108960"/>
            <a:ext cx="4709160" cy="320040"/>
          </a:xfrm>
          <a:prstGeom prst="rect">
            <a:avLst/>
          </a:prstGeom>
          <a:noFill/>
          <a:ln/>
        </p:spPr>
        <p:txBody>
          <a:bodyPr wrap="square" rtlCol="0" anchor="ctr"/>
          <a:lstStyle/>
          <a:p>
            <a:pPr marL="0" indent="0">
              <a:buNone/>
            </a:pPr>
            <a:endParaRPr lang="en-US" sz="1200" dirty="0"/>
          </a:p>
        </p:txBody>
      </p:sp>
      <p:sp>
        <p:nvSpPr>
          <p:cNvPr id="7" name="Shape 5"/>
          <p:cNvSpPr/>
          <p:nvPr/>
        </p:nvSpPr>
        <p:spPr>
          <a:xfrm>
            <a:off x="6172200" y="1600200"/>
            <a:ext cx="5349240" cy="1965960"/>
          </a:xfrm>
          <a:prstGeom prst="roundRect">
            <a:avLst>
              <a:gd name="adj" fmla="val 4651"/>
            </a:avLst>
          </a:prstGeom>
          <a:solidFill>
            <a:srgbClr val="F2F7F9"/>
          </a:solidFill>
          <a:ln/>
        </p:spPr>
        <p:txBody>
          <a:bodyPr/>
          <a:lstStyle/>
          <a:p>
            <a:endParaRPr lang="en-US"/>
          </a:p>
        </p:txBody>
      </p:sp>
      <p:sp>
        <p:nvSpPr>
          <p:cNvPr id="8" name="Text 6"/>
          <p:cNvSpPr/>
          <p:nvPr/>
        </p:nvSpPr>
        <p:spPr>
          <a:xfrm>
            <a:off x="6492240" y="1783080"/>
            <a:ext cx="4709160" cy="1280160"/>
          </a:xfrm>
          <a:prstGeom prst="rect">
            <a:avLst/>
          </a:prstGeom>
          <a:noFill/>
          <a:ln/>
        </p:spPr>
        <p:txBody>
          <a:bodyPr wrap="square" rtlCol="0" anchor="t"/>
          <a:lstStyle/>
          <a:p>
            <a:pPr marL="0" indent="0">
              <a:buNone/>
            </a:pPr>
            <a:r>
              <a:rPr lang="en-US" sz="1500" i="1">
                <a:solidFill>
                  <a:srgbClr val="1F2A33"/>
                </a:solidFill>
                <a:latin typeface="Cambria" pitchFamily="34" charset="0"/>
                <a:ea typeface="Cambria" pitchFamily="34" charset="-122"/>
                <a:cs typeface="Cambria" pitchFamily="34" charset="-120"/>
              </a:rPr>
              <a:t>“Công thức nấu phở bò chuẩn Hà Nội”</a:t>
            </a:r>
            <a:endParaRPr lang="en-US" sz="1500" dirty="0"/>
          </a:p>
        </p:txBody>
      </p:sp>
      <p:sp>
        <p:nvSpPr>
          <p:cNvPr id="9" name="Text 7"/>
          <p:cNvSpPr/>
          <p:nvPr/>
        </p:nvSpPr>
        <p:spPr>
          <a:xfrm>
            <a:off x="6492240" y="3108960"/>
            <a:ext cx="4709160" cy="320040"/>
          </a:xfrm>
          <a:prstGeom prst="rect">
            <a:avLst/>
          </a:prstGeom>
          <a:noFill/>
          <a:ln/>
        </p:spPr>
        <p:txBody>
          <a:bodyPr wrap="square" rtlCol="0" anchor="ctr"/>
          <a:lstStyle/>
          <a:p>
            <a:pPr marL="0" indent="0">
              <a:buNone/>
            </a:pPr>
            <a:endParaRPr lang="en-US" sz="1200" dirty="0"/>
          </a:p>
        </p:txBody>
      </p:sp>
      <p:sp>
        <p:nvSpPr>
          <p:cNvPr id="10" name="Shape 8"/>
          <p:cNvSpPr/>
          <p:nvPr/>
        </p:nvSpPr>
        <p:spPr>
          <a:xfrm>
            <a:off x="548640" y="3794760"/>
            <a:ext cx="11064240" cy="1965960"/>
          </a:xfrm>
          <a:prstGeom prst="roundRect">
            <a:avLst>
              <a:gd name="adj" fmla="val 4651"/>
            </a:avLst>
          </a:prstGeom>
          <a:solidFill>
            <a:srgbClr val="21295C"/>
          </a:solidFill>
          <a:ln/>
        </p:spPr>
        <p:txBody>
          <a:bodyPr/>
          <a:lstStyle/>
          <a:p>
            <a:endParaRPr lang="en-US"/>
          </a:p>
        </p:txBody>
      </p:sp>
      <p:sp>
        <p:nvSpPr>
          <p:cNvPr id="11" name="Text 9"/>
          <p:cNvSpPr/>
          <p:nvPr/>
        </p:nvSpPr>
        <p:spPr>
          <a:xfrm>
            <a:off x="822960" y="3977640"/>
            <a:ext cx="10515600" cy="365760"/>
          </a:xfrm>
          <a:prstGeom prst="rect">
            <a:avLst/>
          </a:prstGeom>
          <a:noFill/>
          <a:ln/>
        </p:spPr>
        <p:txBody>
          <a:bodyPr wrap="square" rtlCol="0" anchor="ctr"/>
          <a:lstStyle/>
          <a:p>
            <a:pPr marL="0" indent="0">
              <a:buNone/>
            </a:pPr>
            <a:r>
              <a:rPr lang="en-US" sz="1400" b="1" dirty="0">
                <a:solidFill>
                  <a:srgbClr val="FFB703"/>
                </a:solidFill>
                <a:latin typeface="Calibri" pitchFamily="34" charset="0"/>
                <a:ea typeface="Calibri" pitchFamily="34" charset="-122"/>
                <a:cs typeface="Calibri" pitchFamily="34" charset="-120"/>
              </a:rPr>
              <a:t>Thay đổi đã làm từ feedback</a:t>
            </a:r>
            <a:endParaRPr lang="en-US" sz="1400" dirty="0"/>
          </a:p>
        </p:txBody>
      </p:sp>
      <p:sp>
        <p:nvSpPr>
          <p:cNvPr id="12" name="Text 10"/>
          <p:cNvSpPr/>
          <p:nvPr/>
        </p:nvSpPr>
        <p:spPr>
          <a:xfrm>
            <a:off x="822960" y="4389120"/>
            <a:ext cx="10515600" cy="1188720"/>
          </a:xfrm>
          <a:prstGeom prst="rect">
            <a:avLst/>
          </a:prstGeom>
          <a:noFill/>
          <a:ln/>
        </p:spPr>
        <p:txBody>
          <a:bodyPr wrap="square" rtlCol="0" anchor="t"/>
          <a:lstStyle/>
          <a:p>
            <a:pPr marL="0" indent="0">
              <a:buNone/>
            </a:pPr>
            <a:r>
              <a:rPr lang="en-US" sz="1300" i="1" dirty="0">
                <a:solidFill>
                  <a:srgbClr val="CFE8EF"/>
                </a:solidFill>
                <a:latin typeface="Calibri" pitchFamily="34" charset="0"/>
                <a:ea typeface="Calibri" pitchFamily="34" charset="-122"/>
                <a:cs typeface="Calibri" pitchFamily="34" charset="-120"/>
              </a:rPr>
              <a:t>Quote trên là ví dụ thực tế từ mining chatlog (§1), chưa phải phiên validation chính thức. Từ run-1 (citation rate = 0%), nhóm đã bổ sung metric citation_coverage (≥80%), mở rộng golden-set lên ≥20 case (≥5 từ chatlog thật), và thêm kiểm tra bắt buộc trường citation trong evaluator. Validation với willing users (Phạm Trung Kiên, Nguyễn Huy Anh, Hà Tấn Phong) đang được lên kế hoạch trước CP5.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CFE8EF"/>
                </a:solidFill>
                <a:latin typeface="Calibri" pitchFamily="34" charset="0"/>
                <a:ea typeface="Calibri" pitchFamily="34" charset="-122"/>
                <a:cs typeface="Calibri" pitchFamily="34" charset="-120"/>
              </a:rPr>
              <a:t>06 · NẾU CÓ THÊM 1 TUẦN</a:t>
            </a:r>
            <a:endParaRPr lang="en-US" sz="1200" dirty="0"/>
          </a:p>
        </p:txBody>
      </p:sp>
      <p:sp>
        <p:nvSpPr>
          <p:cNvPr id="3" name="Text 1"/>
          <p:cNvSpPr/>
          <p:nvPr/>
        </p:nvSpPr>
        <p:spPr>
          <a:xfrm>
            <a:off x="548640" y="822960"/>
            <a:ext cx="91440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Ưu tiên tiếp theo</a:t>
            </a:r>
            <a:endParaRPr lang="en-US" sz="3000" dirty="0"/>
          </a:p>
        </p:txBody>
      </p:sp>
      <p:sp>
        <p:nvSpPr>
          <p:cNvPr id="4" name="Shape 2"/>
          <p:cNvSpPr/>
          <p:nvPr/>
        </p:nvSpPr>
        <p:spPr>
          <a:xfrm>
            <a:off x="548640" y="1691640"/>
            <a:ext cx="3520440" cy="2377440"/>
          </a:xfrm>
          <a:prstGeom prst="roundRect">
            <a:avLst>
              <a:gd name="adj" fmla="val 3846"/>
            </a:avLst>
          </a:prstGeom>
          <a:solidFill>
            <a:srgbClr val="2B3970"/>
          </a:solidFill>
          <a:ln/>
        </p:spPr>
        <p:txBody>
          <a:bodyPr/>
          <a:lstStyle/>
          <a:p>
            <a:endParaRPr lang="en-US"/>
          </a:p>
        </p:txBody>
      </p:sp>
      <p:sp>
        <p:nvSpPr>
          <p:cNvPr id="5" name="Text 3"/>
          <p:cNvSpPr/>
          <p:nvPr/>
        </p:nvSpPr>
        <p:spPr>
          <a:xfrm>
            <a:off x="777240" y="1828800"/>
            <a:ext cx="822960" cy="640080"/>
          </a:xfrm>
          <a:prstGeom prst="rect">
            <a:avLst/>
          </a:prstGeom>
          <a:noFill/>
          <a:ln/>
        </p:spPr>
        <p:txBody>
          <a:bodyPr wrap="square" rtlCol="0" anchor="ctr"/>
          <a:lstStyle/>
          <a:p>
            <a:pPr marL="0" indent="0">
              <a:buNone/>
            </a:pPr>
            <a:r>
              <a:rPr lang="en-US" sz="3400" b="1" dirty="0">
                <a:solidFill>
                  <a:srgbClr val="FFB703"/>
                </a:solidFill>
                <a:latin typeface="Cambria" pitchFamily="34" charset="0"/>
                <a:ea typeface="Cambria" pitchFamily="34" charset="-122"/>
                <a:cs typeface="Cambria" pitchFamily="34" charset="-120"/>
              </a:rPr>
              <a:t>1</a:t>
            </a:r>
            <a:endParaRPr lang="en-US" sz="3400" dirty="0"/>
          </a:p>
        </p:txBody>
      </p:sp>
      <p:sp>
        <p:nvSpPr>
          <p:cNvPr id="6" name="Text 4"/>
          <p:cNvSpPr/>
          <p:nvPr/>
        </p:nvSpPr>
        <p:spPr>
          <a:xfrm>
            <a:off x="777240" y="2514600"/>
            <a:ext cx="3063240" cy="731520"/>
          </a:xfrm>
          <a:prstGeom prst="rect">
            <a:avLst/>
          </a:prstGeom>
          <a:noFill/>
          <a:ln/>
        </p:spPr>
        <p:txBody>
          <a:bodyPr wrap="square"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Tăng citation </a:t>
            </a:r>
            <a:r>
              <a:rPr lang="en-US" sz="1350" b="1">
                <a:solidFill>
                  <a:srgbClr val="FFFFFF"/>
                </a:solidFill>
                <a:latin typeface="Calibri" pitchFamily="34" charset="0"/>
                <a:ea typeface="Calibri" pitchFamily="34" charset="-122"/>
                <a:cs typeface="Calibri" pitchFamily="34" charset="-120"/>
              </a:rPr>
              <a:t>rate 50% → ≥80%</a:t>
            </a:r>
            <a:endParaRPr lang="en-US" sz="1350" dirty="0"/>
          </a:p>
        </p:txBody>
      </p:sp>
      <p:sp>
        <p:nvSpPr>
          <p:cNvPr id="7" name="Text 5"/>
          <p:cNvSpPr/>
          <p:nvPr/>
        </p:nvSpPr>
        <p:spPr>
          <a:xfrm>
            <a:off x="777240" y="3200400"/>
            <a:ext cx="3063240" cy="777240"/>
          </a:xfrm>
          <a:prstGeom prst="rect">
            <a:avLst/>
          </a:prstGeom>
          <a:noFill/>
          <a:ln/>
        </p:spPr>
        <p:txBody>
          <a:bodyPr wrap="square" rtlCol="0" anchor="t"/>
          <a:lstStyle/>
          <a:p>
            <a:pPr marL="0" indent="0">
              <a:buNone/>
            </a:pPr>
            <a:r>
              <a:rPr lang="en-US" sz="1100" dirty="0">
                <a:solidFill>
                  <a:srgbClr val="CFE8EF"/>
                </a:solidFill>
                <a:latin typeface="Calibri" pitchFamily="34" charset="0"/>
                <a:ea typeface="Calibri" pitchFamily="34" charset="-122"/>
                <a:cs typeface="Calibri" pitchFamily="34" charset="-120"/>
              </a:rPr>
              <a:t>Siết prompt bắt buộc trường citation, thêm kiểm tra bắt buộc citation trong evaluator.</a:t>
            </a:r>
            <a:endParaRPr lang="en-US" sz="1100" dirty="0"/>
          </a:p>
        </p:txBody>
      </p:sp>
      <p:sp>
        <p:nvSpPr>
          <p:cNvPr id="8" name="Shape 6"/>
          <p:cNvSpPr/>
          <p:nvPr/>
        </p:nvSpPr>
        <p:spPr>
          <a:xfrm>
            <a:off x="4343400" y="1691640"/>
            <a:ext cx="3520440" cy="2377440"/>
          </a:xfrm>
          <a:prstGeom prst="roundRect">
            <a:avLst>
              <a:gd name="adj" fmla="val 3846"/>
            </a:avLst>
          </a:prstGeom>
          <a:solidFill>
            <a:srgbClr val="2B3970"/>
          </a:solidFill>
          <a:ln/>
        </p:spPr>
        <p:txBody>
          <a:bodyPr/>
          <a:lstStyle/>
          <a:p>
            <a:endParaRPr lang="en-US"/>
          </a:p>
        </p:txBody>
      </p:sp>
      <p:sp>
        <p:nvSpPr>
          <p:cNvPr id="9" name="Text 7"/>
          <p:cNvSpPr/>
          <p:nvPr/>
        </p:nvSpPr>
        <p:spPr>
          <a:xfrm>
            <a:off x="4572000" y="1828800"/>
            <a:ext cx="822960" cy="640080"/>
          </a:xfrm>
          <a:prstGeom prst="rect">
            <a:avLst/>
          </a:prstGeom>
          <a:noFill/>
          <a:ln/>
        </p:spPr>
        <p:txBody>
          <a:bodyPr wrap="square" rtlCol="0" anchor="ctr"/>
          <a:lstStyle/>
          <a:p>
            <a:pPr marL="0" indent="0">
              <a:buNone/>
            </a:pPr>
            <a:r>
              <a:rPr lang="en-US" sz="3400" b="1" dirty="0">
                <a:solidFill>
                  <a:srgbClr val="FFB703"/>
                </a:solidFill>
                <a:latin typeface="Cambria" pitchFamily="34" charset="0"/>
                <a:ea typeface="Cambria" pitchFamily="34" charset="-122"/>
                <a:cs typeface="Cambria" pitchFamily="34" charset="-120"/>
              </a:rPr>
              <a:t>2</a:t>
            </a:r>
            <a:endParaRPr lang="en-US" sz="3400" dirty="0"/>
          </a:p>
        </p:txBody>
      </p:sp>
      <p:sp>
        <p:nvSpPr>
          <p:cNvPr id="10" name="Text 8"/>
          <p:cNvSpPr/>
          <p:nvPr/>
        </p:nvSpPr>
        <p:spPr>
          <a:xfrm>
            <a:off x="4572000" y="2514600"/>
            <a:ext cx="3063240" cy="731520"/>
          </a:xfrm>
          <a:prstGeom prst="rect">
            <a:avLst/>
          </a:prstGeom>
          <a:noFill/>
          <a:ln/>
        </p:spPr>
        <p:txBody>
          <a:bodyPr wrap="square"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Cải thiện content accuracy 75% → ≥80%</a:t>
            </a:r>
            <a:endParaRPr lang="en-US" sz="1350" dirty="0"/>
          </a:p>
        </p:txBody>
      </p:sp>
      <p:sp>
        <p:nvSpPr>
          <p:cNvPr id="11" name="Text 9"/>
          <p:cNvSpPr/>
          <p:nvPr/>
        </p:nvSpPr>
        <p:spPr>
          <a:xfrm>
            <a:off x="4572000" y="3200400"/>
            <a:ext cx="3063240" cy="777240"/>
          </a:xfrm>
          <a:prstGeom prst="rect">
            <a:avLst/>
          </a:prstGeom>
          <a:noFill/>
          <a:ln/>
        </p:spPr>
        <p:txBody>
          <a:bodyPr wrap="square" rtlCol="0" anchor="t"/>
          <a:lstStyle/>
          <a:p>
            <a:pPr marL="0" indent="0">
              <a:buNone/>
            </a:pPr>
            <a:r>
              <a:rPr lang="en-US" sz="1100" dirty="0">
                <a:solidFill>
                  <a:srgbClr val="CFE8EF"/>
                </a:solidFill>
                <a:latin typeface="Calibri" pitchFamily="34" charset="0"/>
                <a:ea typeface="Calibri" pitchFamily="34" charset="-122"/>
                <a:cs typeface="Calibri" pitchFamily="34" charset="-120"/>
              </a:rPr>
              <a:t>Annotate N=50 replies thiếu citation, mở rộng golden-set ≥20 case (≥5 từ chatlog thật).</a:t>
            </a:r>
            <a:endParaRPr lang="en-US" sz="1100" dirty="0"/>
          </a:p>
        </p:txBody>
      </p:sp>
      <p:sp>
        <p:nvSpPr>
          <p:cNvPr id="12" name="Shape 10"/>
          <p:cNvSpPr/>
          <p:nvPr/>
        </p:nvSpPr>
        <p:spPr>
          <a:xfrm>
            <a:off x="8138160" y="1691640"/>
            <a:ext cx="3520440" cy="2377440"/>
          </a:xfrm>
          <a:prstGeom prst="roundRect">
            <a:avLst>
              <a:gd name="adj" fmla="val 3846"/>
            </a:avLst>
          </a:prstGeom>
          <a:solidFill>
            <a:srgbClr val="2B3970"/>
          </a:solidFill>
          <a:ln/>
        </p:spPr>
        <p:txBody>
          <a:bodyPr/>
          <a:lstStyle/>
          <a:p>
            <a:endParaRPr lang="en-US"/>
          </a:p>
        </p:txBody>
      </p:sp>
      <p:sp>
        <p:nvSpPr>
          <p:cNvPr id="13" name="Text 11"/>
          <p:cNvSpPr/>
          <p:nvPr/>
        </p:nvSpPr>
        <p:spPr>
          <a:xfrm>
            <a:off x="8366760" y="1828800"/>
            <a:ext cx="822960" cy="640080"/>
          </a:xfrm>
          <a:prstGeom prst="rect">
            <a:avLst/>
          </a:prstGeom>
          <a:noFill/>
          <a:ln/>
        </p:spPr>
        <p:txBody>
          <a:bodyPr wrap="square" rtlCol="0" anchor="ctr"/>
          <a:lstStyle/>
          <a:p>
            <a:pPr marL="0" indent="0">
              <a:buNone/>
            </a:pPr>
            <a:r>
              <a:rPr lang="en-US" sz="3400" b="1" dirty="0">
                <a:solidFill>
                  <a:srgbClr val="FFB703"/>
                </a:solidFill>
                <a:latin typeface="Cambria" pitchFamily="34" charset="0"/>
                <a:ea typeface="Cambria" pitchFamily="34" charset="-122"/>
                <a:cs typeface="Cambria" pitchFamily="34" charset="-120"/>
              </a:rPr>
              <a:t>3</a:t>
            </a:r>
            <a:endParaRPr lang="en-US" sz="3400" dirty="0"/>
          </a:p>
        </p:txBody>
      </p:sp>
      <p:sp>
        <p:nvSpPr>
          <p:cNvPr id="14" name="Text 12"/>
          <p:cNvSpPr/>
          <p:nvPr/>
        </p:nvSpPr>
        <p:spPr>
          <a:xfrm>
            <a:off x="8366760" y="2514600"/>
            <a:ext cx="3063240" cy="731520"/>
          </a:xfrm>
          <a:prstGeom prst="rect">
            <a:avLst/>
          </a:prstGeom>
          <a:noFill/>
          <a:ln/>
        </p:spPr>
        <p:txBody>
          <a:bodyPr wrap="square"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Sửa các case fail — GS008, GS013, GS023, GS025</a:t>
            </a:r>
            <a:endParaRPr lang="en-US" sz="1350" dirty="0"/>
          </a:p>
        </p:txBody>
      </p:sp>
      <p:sp>
        <p:nvSpPr>
          <p:cNvPr id="15" name="Text 13"/>
          <p:cNvSpPr/>
          <p:nvPr/>
        </p:nvSpPr>
        <p:spPr>
          <a:xfrm>
            <a:off x="8366760" y="3200400"/>
            <a:ext cx="3063240" cy="777240"/>
          </a:xfrm>
          <a:prstGeom prst="rect">
            <a:avLst/>
          </a:prstGeom>
          <a:noFill/>
          <a:ln/>
        </p:spPr>
        <p:txBody>
          <a:bodyPr wrap="square" rtlCol="0" anchor="t"/>
          <a:lstStyle/>
          <a:p>
            <a:pPr marL="0" indent="0">
              <a:buNone/>
            </a:pPr>
            <a:r>
              <a:rPr lang="en-US" sz="1100" dirty="0">
                <a:solidFill>
                  <a:srgbClr val="CFE8EF"/>
                </a:solidFill>
                <a:latin typeface="Calibri" pitchFamily="34" charset="0"/>
                <a:ea typeface="Calibri" pitchFamily="34" charset="-122"/>
                <a:cs typeface="Calibri" pitchFamily="34" charset="-120"/>
              </a:rPr>
              <a:t>Chạy run-2, tinh chỉnh threshold confidence cho external lookup và điều kiện escalate-to-TA.</a:t>
            </a:r>
            <a:endParaRPr lang="en-US" sz="1100" dirty="0"/>
          </a:p>
        </p:txBody>
      </p:sp>
      <p:sp>
        <p:nvSpPr>
          <p:cNvPr id="16" name="Shape 14"/>
          <p:cNvSpPr/>
          <p:nvPr/>
        </p:nvSpPr>
        <p:spPr>
          <a:xfrm>
            <a:off x="548640" y="4343400"/>
            <a:ext cx="11064240" cy="1280160"/>
          </a:xfrm>
          <a:prstGeom prst="roundRect">
            <a:avLst>
              <a:gd name="adj" fmla="val 7143"/>
            </a:avLst>
          </a:prstGeom>
          <a:solidFill>
            <a:srgbClr val="2B3970"/>
          </a:solidFill>
          <a:ln w="12700">
            <a:solidFill>
              <a:srgbClr val="FFB703"/>
            </a:solidFill>
            <a:prstDash val="solid"/>
          </a:ln>
        </p:spPr>
        <p:txBody>
          <a:bodyPr/>
          <a:lstStyle/>
          <a:p>
            <a:endParaRPr lang="en-US"/>
          </a:p>
        </p:txBody>
      </p:sp>
      <p:sp>
        <p:nvSpPr>
          <p:cNvPr id="17" name="Text 15"/>
          <p:cNvSpPr/>
          <p:nvPr/>
        </p:nvSpPr>
        <p:spPr>
          <a:xfrm>
            <a:off x="822960" y="4526280"/>
            <a:ext cx="10515600" cy="1005840"/>
          </a:xfrm>
          <a:prstGeom prst="rect">
            <a:avLst/>
          </a:prstGeom>
          <a:noFill/>
          <a:ln/>
        </p:spPr>
        <p:txBody>
          <a:bodyPr wrap="square" rtlCol="0" anchor="t"/>
          <a:lstStyle/>
          <a:p>
            <a:pPr marL="0" indent="0">
              <a:buNone/>
            </a:pPr>
            <a:r>
              <a:rPr lang="en-US" sz="1400" b="1" dirty="0">
                <a:solidFill>
                  <a:srgbClr val="FFB703"/>
                </a:solidFill>
                <a:latin typeface="Calibri" pitchFamily="34" charset="0"/>
                <a:ea typeface="Calibri" pitchFamily="34" charset="-122"/>
                <a:cs typeface="Calibri" pitchFamily="34" charset="-120"/>
              </a:rPr>
              <a:t>Bài học lớn nhất: </a:t>
            </a:r>
            <a:r>
              <a:rPr lang="en-US" sz="1250" i="1" dirty="0">
                <a:solidFill>
                  <a:srgbClr val="FFFFFF"/>
                </a:solidFill>
                <a:latin typeface="Calibri" pitchFamily="34" charset="0"/>
                <a:ea typeface="Calibri" pitchFamily="34" charset="-122"/>
                <a:cs typeface="Calibri" pitchFamily="34" charset="-120"/>
              </a:rPr>
              <a:t>Safe-not-guess cao (97,5%) nhưng citation rate = 0% cho thấy hệ thống "biết khi nào nên im lặng/escalate" tốt hơn nhiều so với "trả lời kèm trích dẫn đúng" — hai năng lực này cần đo và cải thiện riêng, không gộp chung một chỉ số.</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966</Words>
  <Application>Microsoft Office PowerPoint</Application>
  <PresentationFormat>Widescreen</PresentationFormat>
  <Paragraphs>88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Dai Nguyen</cp:lastModifiedBy>
  <cp:revision>3</cp:revision>
  <dcterms:created xsi:type="dcterms:W3CDTF">2026-07-31T02:37:41Z</dcterms:created>
  <dcterms:modified xsi:type="dcterms:W3CDTF">2026-07-31T04:51:08Z</dcterms:modified>
</cp:coreProperties>
</file>